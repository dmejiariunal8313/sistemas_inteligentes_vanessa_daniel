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9144000"/>
  <p:notesSz cx="6858000" cy="9144000"/>
  <p:embeddedFontLst>
    <p:embeddedFont>
      <p:font typeface="Century Gothic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83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4" roundtripDataSignature="AMtx7mihAPFepsF+49XLNnM0Fp/ruj8HV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83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CenturyGothic-regular.fntdata"/><Relationship Id="rId11" Type="http://schemas.openxmlformats.org/officeDocument/2006/relationships/slide" Target="slides/slide6.xml"/><Relationship Id="rId22" Type="http://schemas.openxmlformats.org/officeDocument/2006/relationships/font" Target="fonts/CenturyGothic-italic.fntdata"/><Relationship Id="rId10" Type="http://schemas.openxmlformats.org/officeDocument/2006/relationships/slide" Target="slides/slide5.xml"/><Relationship Id="rId21" Type="http://schemas.openxmlformats.org/officeDocument/2006/relationships/font" Target="fonts/CenturyGothic-bold.fntdata"/><Relationship Id="rId13" Type="http://schemas.openxmlformats.org/officeDocument/2006/relationships/slide" Target="slides/slide8.xml"/><Relationship Id="rId24" Type="http://customschemas.google.com/relationships/presentationmetadata" Target="metadata"/><Relationship Id="rId12" Type="http://schemas.openxmlformats.org/officeDocument/2006/relationships/slide" Target="slides/slide7.xml"/><Relationship Id="rId23" Type="http://schemas.openxmlformats.org/officeDocument/2006/relationships/font" Target="fonts/CenturyGothic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" name="Google Shape;20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7" name="Google Shape;26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0" name="Google Shape;32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4" name="Google Shape;35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6" name="Google Shape;38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1" name="Google Shape;41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1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5" name="Google Shape;43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1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7" name="Google Shape;46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1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4" name="Google Shape;50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1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6"/>
          <p:cNvSpPr/>
          <p:nvPr/>
        </p:nvSpPr>
        <p:spPr>
          <a:xfrm>
            <a:off x="3186953" y="268288"/>
            <a:ext cx="5669280" cy="390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" name="Google Shape;18;p16"/>
          <p:cNvSpPr/>
          <p:nvPr/>
        </p:nvSpPr>
        <p:spPr>
          <a:xfrm>
            <a:off x="268940" y="268290"/>
            <a:ext cx="182880" cy="388685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9" name="Google Shape;19;p16"/>
          <p:cNvSpPr txBox="1"/>
          <p:nvPr>
            <p:ph type="ctrTitle"/>
          </p:nvPr>
        </p:nvSpPr>
        <p:spPr>
          <a:xfrm>
            <a:off x="3200400" y="4208929"/>
            <a:ext cx="5458968" cy="104868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600"/>
              <a:buFont typeface="Century Gothic"/>
              <a:buNone/>
              <a:defRPr sz="46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6"/>
          <p:cNvSpPr txBox="1"/>
          <p:nvPr>
            <p:ph idx="1" type="subTitle"/>
          </p:nvPr>
        </p:nvSpPr>
        <p:spPr>
          <a:xfrm>
            <a:off x="3200400" y="5257800"/>
            <a:ext cx="5458968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  <a:defRPr sz="16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ctr">
              <a:spcBef>
                <a:spcPts val="60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0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60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60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1" name="Google Shape;21;p16"/>
          <p:cNvSpPr txBox="1"/>
          <p:nvPr>
            <p:ph idx="10" type="dt"/>
          </p:nvPr>
        </p:nvSpPr>
        <p:spPr>
          <a:xfrm>
            <a:off x="3276600" y="390527"/>
            <a:ext cx="55046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sz="22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6"/>
          <p:cNvSpPr txBox="1"/>
          <p:nvPr>
            <p:ph idx="11" type="ftr"/>
          </p:nvPr>
        </p:nvSpPr>
        <p:spPr>
          <a:xfrm>
            <a:off x="3218688" y="6356352"/>
            <a:ext cx="473659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1100">
                <a:solidFill>
                  <a:srgbClr val="79797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6"/>
          <p:cNvSpPr txBox="1"/>
          <p:nvPr>
            <p:ph idx="12" type="sldNum"/>
          </p:nvPr>
        </p:nvSpPr>
        <p:spPr>
          <a:xfrm>
            <a:off x="8256494" y="6356352"/>
            <a:ext cx="685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1" i="0" sz="1100" u="none" cap="none" strike="noStrike">
                <a:solidFill>
                  <a:srgbClr val="79797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algn="r">
              <a:spcBef>
                <a:spcPts val="0"/>
              </a:spcBef>
              <a:buNone/>
              <a:defRPr b="1" i="0" sz="1100" u="none" cap="none" strike="noStrike">
                <a:solidFill>
                  <a:srgbClr val="79797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algn="r">
              <a:spcBef>
                <a:spcPts val="0"/>
              </a:spcBef>
              <a:buNone/>
              <a:defRPr b="1" i="0" sz="1100" u="none" cap="none" strike="noStrike">
                <a:solidFill>
                  <a:srgbClr val="79797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algn="r">
              <a:spcBef>
                <a:spcPts val="0"/>
              </a:spcBef>
              <a:buNone/>
              <a:defRPr b="1" i="0" sz="1100" u="none" cap="none" strike="noStrike">
                <a:solidFill>
                  <a:srgbClr val="79797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algn="r">
              <a:spcBef>
                <a:spcPts val="0"/>
              </a:spcBef>
              <a:buNone/>
              <a:defRPr b="1" i="0" sz="1100" u="none" cap="none" strike="noStrike">
                <a:solidFill>
                  <a:srgbClr val="79797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algn="r">
              <a:spcBef>
                <a:spcPts val="0"/>
              </a:spcBef>
              <a:buNone/>
              <a:defRPr b="1" i="0" sz="1100" u="none" cap="none" strike="noStrike">
                <a:solidFill>
                  <a:srgbClr val="79797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algn="r">
              <a:spcBef>
                <a:spcPts val="0"/>
              </a:spcBef>
              <a:buNone/>
              <a:defRPr b="1" i="0" sz="1100" u="none" cap="none" strike="noStrike">
                <a:solidFill>
                  <a:srgbClr val="79797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algn="r">
              <a:spcBef>
                <a:spcPts val="0"/>
              </a:spcBef>
              <a:buNone/>
              <a:defRPr b="1" i="0" sz="1100" u="none" cap="none" strike="noStrike">
                <a:solidFill>
                  <a:srgbClr val="79797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algn="r">
              <a:spcBef>
                <a:spcPts val="0"/>
              </a:spcBef>
              <a:buNone/>
              <a:defRPr b="1" i="0" sz="1100" u="none" cap="none" strike="noStrike">
                <a:solidFill>
                  <a:srgbClr val="79797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7"/>
          <p:cNvSpPr txBox="1"/>
          <p:nvPr>
            <p:ph type="title"/>
          </p:nvPr>
        </p:nvSpPr>
        <p:spPr>
          <a:xfrm>
            <a:off x="457199" y="914400"/>
            <a:ext cx="650837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7"/>
          <p:cNvSpPr txBox="1"/>
          <p:nvPr>
            <p:ph idx="1" type="body"/>
          </p:nvPr>
        </p:nvSpPr>
        <p:spPr>
          <a:xfrm>
            <a:off x="457199" y="2209802"/>
            <a:ext cx="6508377" cy="39163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800"/>
              </a:spcBef>
              <a:spcAft>
                <a:spcPts val="0"/>
              </a:spcAft>
              <a:buSzPts val="1800"/>
              <a:buChar char="◼"/>
              <a:defRPr/>
            </a:lvl1pPr>
            <a:lvl2pPr indent="-342900" lvl="1" marL="9144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2pPr>
            <a:lvl3pPr indent="-342900" lvl="2" marL="13716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3pPr>
            <a:lvl4pPr indent="-342900" lvl="3" marL="18288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4pPr>
            <a:lvl5pPr indent="-342900" lvl="4" marL="22860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" name="Google Shape;27;p17"/>
          <p:cNvSpPr txBox="1"/>
          <p:nvPr>
            <p:ph idx="10" type="dt"/>
          </p:nvPr>
        </p:nvSpPr>
        <p:spPr>
          <a:xfrm>
            <a:off x="7212106" y="6356352"/>
            <a:ext cx="1752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7"/>
          <p:cNvSpPr txBox="1"/>
          <p:nvPr>
            <p:ph idx="11" type="ftr"/>
          </p:nvPr>
        </p:nvSpPr>
        <p:spPr>
          <a:xfrm>
            <a:off x="174812" y="6356352"/>
            <a:ext cx="6007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9"/>
          <p:cNvSpPr/>
          <p:nvPr/>
        </p:nvSpPr>
        <p:spPr>
          <a:xfrm>
            <a:off x="7758952" y="268288"/>
            <a:ext cx="1099073" cy="635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2" name="Google Shape;32;p19"/>
          <p:cNvSpPr txBox="1"/>
          <p:nvPr>
            <p:ph type="title"/>
          </p:nvPr>
        </p:nvSpPr>
        <p:spPr>
          <a:xfrm>
            <a:off x="2209802" y="3429000"/>
            <a:ext cx="4966446" cy="139849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600"/>
              <a:buFont typeface="Century Gothic"/>
              <a:buNone/>
              <a:defRPr b="0" sz="46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9"/>
          <p:cNvSpPr txBox="1"/>
          <p:nvPr>
            <p:ph idx="1" type="body"/>
          </p:nvPr>
        </p:nvSpPr>
        <p:spPr>
          <a:xfrm>
            <a:off x="2209802" y="4824414"/>
            <a:ext cx="4966446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spcBef>
                <a:spcPts val="18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19"/>
          <p:cNvSpPr txBox="1"/>
          <p:nvPr>
            <p:ph idx="10" type="dt"/>
          </p:nvPr>
        </p:nvSpPr>
        <p:spPr>
          <a:xfrm>
            <a:off x="5562600" y="6356352"/>
            <a:ext cx="1622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9"/>
          <p:cNvSpPr txBox="1"/>
          <p:nvPr>
            <p:ph idx="11" type="ftr"/>
          </p:nvPr>
        </p:nvSpPr>
        <p:spPr>
          <a:xfrm>
            <a:off x="174812" y="6356352"/>
            <a:ext cx="53115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9"/>
          <p:cNvSpPr txBox="1"/>
          <p:nvPr>
            <p:ph idx="12" type="sldNum"/>
          </p:nvPr>
        </p:nvSpPr>
        <p:spPr>
          <a:xfrm>
            <a:off x="8256494" y="361018"/>
            <a:ext cx="5065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 con imagen">
  <p:cSld name="Diapositiva de título con image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0"/>
          <p:cNvSpPr/>
          <p:nvPr/>
        </p:nvSpPr>
        <p:spPr>
          <a:xfrm>
            <a:off x="3186953" y="268288"/>
            <a:ext cx="5669280" cy="25603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9" name="Google Shape;39;p20"/>
          <p:cNvSpPr txBox="1"/>
          <p:nvPr>
            <p:ph type="ctrTitle"/>
          </p:nvPr>
        </p:nvSpPr>
        <p:spPr>
          <a:xfrm>
            <a:off x="3200399" y="4171950"/>
            <a:ext cx="5457919" cy="10858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600"/>
              <a:buFont typeface="Century Gothic"/>
              <a:buNone/>
              <a:defRPr sz="4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0"/>
          <p:cNvSpPr txBox="1"/>
          <p:nvPr>
            <p:ph idx="1" type="subTitle"/>
          </p:nvPr>
        </p:nvSpPr>
        <p:spPr>
          <a:xfrm>
            <a:off x="3200402" y="5257801"/>
            <a:ext cx="5457918" cy="6185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0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60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60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1" name="Google Shape;41;p20"/>
          <p:cNvSpPr txBox="1"/>
          <p:nvPr>
            <p:ph idx="10" type="dt"/>
          </p:nvPr>
        </p:nvSpPr>
        <p:spPr>
          <a:xfrm>
            <a:off x="3276600" y="389967"/>
            <a:ext cx="549984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sz="22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0"/>
          <p:cNvSpPr txBox="1"/>
          <p:nvPr>
            <p:ph idx="11" type="ftr"/>
          </p:nvPr>
        </p:nvSpPr>
        <p:spPr>
          <a:xfrm>
            <a:off x="3213848" y="6356352"/>
            <a:ext cx="47341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0"/>
          <p:cNvSpPr txBox="1"/>
          <p:nvPr>
            <p:ph idx="12" type="sldNum"/>
          </p:nvPr>
        </p:nvSpPr>
        <p:spPr>
          <a:xfrm>
            <a:off x="8265459" y="6356352"/>
            <a:ext cx="685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1" sz="1100">
                <a:solidFill>
                  <a:srgbClr val="79797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algn="r">
              <a:spcBef>
                <a:spcPts val="0"/>
              </a:spcBef>
              <a:buNone/>
              <a:defRPr b="1" sz="1100">
                <a:solidFill>
                  <a:srgbClr val="79797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algn="r">
              <a:spcBef>
                <a:spcPts val="0"/>
              </a:spcBef>
              <a:buNone/>
              <a:defRPr b="1" sz="1100">
                <a:solidFill>
                  <a:srgbClr val="79797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algn="r">
              <a:spcBef>
                <a:spcPts val="0"/>
              </a:spcBef>
              <a:buNone/>
              <a:defRPr b="1" sz="1100">
                <a:solidFill>
                  <a:srgbClr val="79797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algn="r">
              <a:spcBef>
                <a:spcPts val="0"/>
              </a:spcBef>
              <a:buNone/>
              <a:defRPr b="1" sz="1100">
                <a:solidFill>
                  <a:srgbClr val="79797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algn="r">
              <a:spcBef>
                <a:spcPts val="0"/>
              </a:spcBef>
              <a:buNone/>
              <a:defRPr b="1" sz="1100">
                <a:solidFill>
                  <a:srgbClr val="79797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algn="r">
              <a:spcBef>
                <a:spcPts val="0"/>
              </a:spcBef>
              <a:buNone/>
              <a:defRPr b="1" sz="1100">
                <a:solidFill>
                  <a:srgbClr val="79797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algn="r">
              <a:spcBef>
                <a:spcPts val="0"/>
              </a:spcBef>
              <a:buNone/>
              <a:defRPr b="1" sz="1100">
                <a:solidFill>
                  <a:srgbClr val="79797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algn="r">
              <a:spcBef>
                <a:spcPts val="0"/>
              </a:spcBef>
              <a:buNone/>
              <a:defRPr b="1" sz="1100">
                <a:solidFill>
                  <a:srgbClr val="79797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4" name="Google Shape;44;p20"/>
          <p:cNvSpPr/>
          <p:nvPr>
            <p:ph idx="2" type="pic"/>
          </p:nvPr>
        </p:nvSpPr>
        <p:spPr>
          <a:xfrm>
            <a:off x="3200401" y="2877671"/>
            <a:ext cx="5646867" cy="1280160"/>
          </a:xfrm>
          <a:prstGeom prst="rect">
            <a:avLst/>
          </a:prstGeom>
          <a:noFill/>
          <a:ln>
            <a:noFill/>
          </a:ln>
        </p:spPr>
      </p:sp>
      <p:sp>
        <p:nvSpPr>
          <p:cNvPr id="45" name="Google Shape;45;p20"/>
          <p:cNvSpPr/>
          <p:nvPr/>
        </p:nvSpPr>
        <p:spPr>
          <a:xfrm>
            <a:off x="268940" y="268290"/>
            <a:ext cx="182880" cy="388685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, objetos e imagen">
  <p:cSld name="Título, objetos e imagen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1"/>
          <p:cNvSpPr/>
          <p:nvPr/>
        </p:nvSpPr>
        <p:spPr>
          <a:xfrm>
            <a:off x="269875" y="268288"/>
            <a:ext cx="1645920" cy="16459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8" name="Google Shape;48;p21"/>
          <p:cNvSpPr txBox="1"/>
          <p:nvPr>
            <p:ph type="title"/>
          </p:nvPr>
        </p:nvSpPr>
        <p:spPr>
          <a:xfrm>
            <a:off x="2178424" y="914400"/>
            <a:ext cx="650837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1"/>
          <p:cNvSpPr txBox="1"/>
          <p:nvPr>
            <p:ph idx="1" type="body"/>
          </p:nvPr>
        </p:nvSpPr>
        <p:spPr>
          <a:xfrm>
            <a:off x="2178424" y="2209802"/>
            <a:ext cx="6508377" cy="39163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800"/>
              </a:spcBef>
              <a:spcAft>
                <a:spcPts val="0"/>
              </a:spcAft>
              <a:buSzPts val="1800"/>
              <a:buChar char="◼"/>
              <a:defRPr/>
            </a:lvl1pPr>
            <a:lvl2pPr indent="-342900" lvl="1" marL="9144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2pPr>
            <a:lvl3pPr indent="-342900" lvl="2" marL="13716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3pPr>
            <a:lvl4pPr indent="-342900" lvl="3" marL="18288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4pPr>
            <a:lvl5pPr indent="-342900" lvl="4" marL="22860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21"/>
          <p:cNvSpPr txBox="1"/>
          <p:nvPr>
            <p:ph idx="10" type="dt"/>
          </p:nvPr>
        </p:nvSpPr>
        <p:spPr>
          <a:xfrm>
            <a:off x="7212106" y="6356352"/>
            <a:ext cx="1752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1"/>
          <p:cNvSpPr txBox="1"/>
          <p:nvPr>
            <p:ph idx="11" type="ftr"/>
          </p:nvPr>
        </p:nvSpPr>
        <p:spPr>
          <a:xfrm>
            <a:off x="2178423" y="6356352"/>
            <a:ext cx="49268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1"/>
          <p:cNvSpPr txBox="1"/>
          <p:nvPr>
            <p:ph idx="12" type="sldNum"/>
          </p:nvPr>
        </p:nvSpPr>
        <p:spPr>
          <a:xfrm>
            <a:off x="331694" y="361018"/>
            <a:ext cx="5065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3" name="Google Shape;53;p21"/>
          <p:cNvSpPr/>
          <p:nvPr>
            <p:ph idx="2" type="pic"/>
          </p:nvPr>
        </p:nvSpPr>
        <p:spPr>
          <a:xfrm>
            <a:off x="269875" y="1976718"/>
            <a:ext cx="1645920" cy="4625788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ción con imagen">
  <p:cSld name="Sección con imagen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2"/>
          <p:cNvSpPr/>
          <p:nvPr/>
        </p:nvSpPr>
        <p:spPr>
          <a:xfrm>
            <a:off x="269875" y="4773706"/>
            <a:ext cx="2971800" cy="184458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6" name="Google Shape;56;p22"/>
          <p:cNvSpPr txBox="1"/>
          <p:nvPr>
            <p:ph type="title"/>
          </p:nvPr>
        </p:nvSpPr>
        <p:spPr>
          <a:xfrm>
            <a:off x="3720354" y="3429001"/>
            <a:ext cx="4966446" cy="139849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600"/>
              <a:buFont typeface="Century Gothic"/>
              <a:buNone/>
              <a:defRPr b="0" sz="46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2"/>
          <p:cNvSpPr txBox="1"/>
          <p:nvPr>
            <p:ph idx="1" type="body"/>
          </p:nvPr>
        </p:nvSpPr>
        <p:spPr>
          <a:xfrm>
            <a:off x="3720354" y="4824414"/>
            <a:ext cx="4966446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spcBef>
                <a:spcPts val="18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8" name="Google Shape;58;p22"/>
          <p:cNvSpPr txBox="1"/>
          <p:nvPr>
            <p:ph idx="12" type="sldNum"/>
          </p:nvPr>
        </p:nvSpPr>
        <p:spPr>
          <a:xfrm>
            <a:off x="351213" y="6104967"/>
            <a:ext cx="5065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9" name="Google Shape;59;p22"/>
          <p:cNvSpPr/>
          <p:nvPr>
            <p:ph idx="2" type="pic"/>
          </p:nvPr>
        </p:nvSpPr>
        <p:spPr>
          <a:xfrm>
            <a:off x="269874" y="268288"/>
            <a:ext cx="2971800" cy="443865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3"/>
          <p:cNvSpPr/>
          <p:nvPr/>
        </p:nvSpPr>
        <p:spPr>
          <a:xfrm>
            <a:off x="8148918" y="268288"/>
            <a:ext cx="718073" cy="16459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2" name="Google Shape;62;p23"/>
          <p:cNvSpPr txBox="1"/>
          <p:nvPr>
            <p:ph type="title"/>
          </p:nvPr>
        </p:nvSpPr>
        <p:spPr>
          <a:xfrm>
            <a:off x="457200" y="914400"/>
            <a:ext cx="7391401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3"/>
          <p:cNvSpPr txBox="1"/>
          <p:nvPr>
            <p:ph idx="1" type="body"/>
          </p:nvPr>
        </p:nvSpPr>
        <p:spPr>
          <a:xfrm>
            <a:off x="457200" y="2214563"/>
            <a:ext cx="3566160" cy="39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800"/>
              </a:spcBef>
              <a:spcAft>
                <a:spcPts val="0"/>
              </a:spcAft>
              <a:buSzPts val="1800"/>
              <a:buChar char="◼"/>
              <a:defRPr sz="1800"/>
            </a:lvl1pPr>
            <a:lvl2pPr indent="-342900" lvl="1" marL="9144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2pPr>
            <a:lvl3pPr indent="-342900" lvl="2" marL="13716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3pPr>
            <a:lvl4pPr indent="-342900" lvl="3" marL="18288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4pPr>
            <a:lvl5pPr indent="-342900" lvl="4" marL="22860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64" name="Google Shape;64;p23"/>
          <p:cNvSpPr txBox="1"/>
          <p:nvPr>
            <p:ph idx="2" type="body"/>
          </p:nvPr>
        </p:nvSpPr>
        <p:spPr>
          <a:xfrm>
            <a:off x="4282440" y="2214563"/>
            <a:ext cx="3566160" cy="39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800"/>
              </a:spcBef>
              <a:spcAft>
                <a:spcPts val="0"/>
              </a:spcAft>
              <a:buSzPts val="1800"/>
              <a:buChar char="◼"/>
              <a:defRPr sz="1800"/>
            </a:lvl1pPr>
            <a:lvl2pPr indent="-342900" lvl="1" marL="9144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2pPr>
            <a:lvl3pPr indent="-342900" lvl="2" marL="13716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3pPr>
            <a:lvl4pPr indent="-342900" lvl="3" marL="18288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4pPr>
            <a:lvl5pPr indent="-342900" lvl="4" marL="22860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65" name="Google Shape;65;p23"/>
          <p:cNvSpPr txBox="1"/>
          <p:nvPr>
            <p:ph idx="10" type="dt"/>
          </p:nvPr>
        </p:nvSpPr>
        <p:spPr>
          <a:xfrm>
            <a:off x="7198659" y="6356352"/>
            <a:ext cx="1752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3"/>
          <p:cNvSpPr txBox="1"/>
          <p:nvPr>
            <p:ph idx="11" type="ftr"/>
          </p:nvPr>
        </p:nvSpPr>
        <p:spPr>
          <a:xfrm>
            <a:off x="174812" y="6356352"/>
            <a:ext cx="6007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3"/>
          <p:cNvSpPr txBox="1"/>
          <p:nvPr>
            <p:ph idx="12" type="sldNum"/>
          </p:nvPr>
        </p:nvSpPr>
        <p:spPr>
          <a:xfrm>
            <a:off x="8256494" y="361018"/>
            <a:ext cx="5065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4"/>
          <p:cNvSpPr/>
          <p:nvPr/>
        </p:nvSpPr>
        <p:spPr>
          <a:xfrm>
            <a:off x="8148918" y="268288"/>
            <a:ext cx="718073" cy="16459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0" name="Google Shape;70;p24"/>
          <p:cNvSpPr txBox="1"/>
          <p:nvPr>
            <p:ph type="title"/>
          </p:nvPr>
        </p:nvSpPr>
        <p:spPr>
          <a:xfrm>
            <a:off x="457199" y="914400"/>
            <a:ext cx="7388352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entury Gothic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4"/>
          <p:cNvSpPr txBox="1"/>
          <p:nvPr>
            <p:ph idx="1" type="body"/>
          </p:nvPr>
        </p:nvSpPr>
        <p:spPr>
          <a:xfrm>
            <a:off x="457200" y="2054132"/>
            <a:ext cx="3566160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spcBef>
                <a:spcPts val="0"/>
              </a:spcBef>
              <a:spcAft>
                <a:spcPts val="0"/>
              </a:spcAft>
              <a:buSzPts val="2000"/>
              <a:buNone/>
              <a:defRPr b="1" sz="2000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72" name="Google Shape;72;p24"/>
          <p:cNvSpPr txBox="1"/>
          <p:nvPr>
            <p:ph idx="2" type="body"/>
          </p:nvPr>
        </p:nvSpPr>
        <p:spPr>
          <a:xfrm>
            <a:off x="457200" y="2689413"/>
            <a:ext cx="3566160" cy="34367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800"/>
              </a:spcBef>
              <a:spcAft>
                <a:spcPts val="0"/>
              </a:spcAft>
              <a:buSzPts val="1800"/>
              <a:buChar char="◼"/>
              <a:defRPr sz="1800"/>
            </a:lvl1pPr>
            <a:lvl2pPr indent="-342900" lvl="1" marL="9144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2pPr>
            <a:lvl3pPr indent="-342900" lvl="2" marL="13716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3pPr>
            <a:lvl4pPr indent="-342900" lvl="3" marL="18288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4pPr>
            <a:lvl5pPr indent="-342900" lvl="4" marL="22860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73" name="Google Shape;73;p24"/>
          <p:cNvSpPr txBox="1"/>
          <p:nvPr>
            <p:ph idx="3" type="body"/>
          </p:nvPr>
        </p:nvSpPr>
        <p:spPr>
          <a:xfrm>
            <a:off x="4279391" y="2054132"/>
            <a:ext cx="3566160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spcBef>
                <a:spcPts val="0"/>
              </a:spcBef>
              <a:spcAft>
                <a:spcPts val="0"/>
              </a:spcAft>
              <a:buSzPts val="2000"/>
              <a:buNone/>
              <a:defRPr b="1" sz="2000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74" name="Google Shape;74;p24"/>
          <p:cNvSpPr txBox="1"/>
          <p:nvPr>
            <p:ph idx="4" type="body"/>
          </p:nvPr>
        </p:nvSpPr>
        <p:spPr>
          <a:xfrm>
            <a:off x="4279391" y="2689413"/>
            <a:ext cx="3566160" cy="34367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800"/>
              </a:spcBef>
              <a:spcAft>
                <a:spcPts val="0"/>
              </a:spcAft>
              <a:buSzPts val="1800"/>
              <a:buChar char="◼"/>
              <a:defRPr sz="1800"/>
            </a:lvl1pPr>
            <a:lvl2pPr indent="-342900" lvl="1" marL="9144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2pPr>
            <a:lvl3pPr indent="-342900" lvl="2" marL="13716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3pPr>
            <a:lvl4pPr indent="-342900" lvl="3" marL="18288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4pPr>
            <a:lvl5pPr indent="-342900" lvl="4" marL="22860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75" name="Google Shape;75;p24"/>
          <p:cNvSpPr txBox="1"/>
          <p:nvPr>
            <p:ph idx="10" type="dt"/>
          </p:nvPr>
        </p:nvSpPr>
        <p:spPr>
          <a:xfrm>
            <a:off x="7198659" y="6356352"/>
            <a:ext cx="1752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4"/>
          <p:cNvSpPr txBox="1"/>
          <p:nvPr>
            <p:ph idx="11" type="ftr"/>
          </p:nvPr>
        </p:nvSpPr>
        <p:spPr>
          <a:xfrm>
            <a:off x="174812" y="6356352"/>
            <a:ext cx="6007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idx="12" type="sldNum"/>
          </p:nvPr>
        </p:nvSpPr>
        <p:spPr>
          <a:xfrm>
            <a:off x="8256494" y="361018"/>
            <a:ext cx="5065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objetos, superior e inferior">
  <p:cSld name="2 objetos, superior e inferior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5"/>
          <p:cNvSpPr/>
          <p:nvPr/>
        </p:nvSpPr>
        <p:spPr>
          <a:xfrm>
            <a:off x="8148918" y="268288"/>
            <a:ext cx="718073" cy="16459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0" name="Google Shape;80;p25"/>
          <p:cNvSpPr txBox="1"/>
          <p:nvPr>
            <p:ph type="title"/>
          </p:nvPr>
        </p:nvSpPr>
        <p:spPr>
          <a:xfrm>
            <a:off x="457200" y="914400"/>
            <a:ext cx="7391401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5"/>
          <p:cNvSpPr txBox="1"/>
          <p:nvPr>
            <p:ph idx="1" type="body"/>
          </p:nvPr>
        </p:nvSpPr>
        <p:spPr>
          <a:xfrm>
            <a:off x="457199" y="2214562"/>
            <a:ext cx="7396163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800"/>
              </a:spcBef>
              <a:spcAft>
                <a:spcPts val="0"/>
              </a:spcAft>
              <a:buSzPts val="1800"/>
              <a:buChar char="◼"/>
              <a:defRPr sz="1800"/>
            </a:lvl1pPr>
            <a:lvl2pPr indent="-342900" lvl="1" marL="9144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2pPr>
            <a:lvl3pPr indent="-342900" lvl="2" marL="13716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3pPr>
            <a:lvl4pPr indent="-342900" lvl="3" marL="18288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4pPr>
            <a:lvl5pPr indent="-342900" lvl="4" marL="22860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82" name="Google Shape;82;p25"/>
          <p:cNvSpPr txBox="1"/>
          <p:nvPr>
            <p:ph idx="10" type="dt"/>
          </p:nvPr>
        </p:nvSpPr>
        <p:spPr>
          <a:xfrm>
            <a:off x="7198659" y="6356352"/>
            <a:ext cx="1752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5"/>
          <p:cNvSpPr txBox="1"/>
          <p:nvPr>
            <p:ph idx="11" type="ftr"/>
          </p:nvPr>
        </p:nvSpPr>
        <p:spPr>
          <a:xfrm>
            <a:off x="174812" y="6356352"/>
            <a:ext cx="6007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5"/>
          <p:cNvSpPr txBox="1"/>
          <p:nvPr>
            <p:ph idx="12" type="sldNum"/>
          </p:nvPr>
        </p:nvSpPr>
        <p:spPr>
          <a:xfrm>
            <a:off x="8256494" y="361018"/>
            <a:ext cx="5065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5" name="Google Shape;85;p25"/>
          <p:cNvSpPr txBox="1"/>
          <p:nvPr>
            <p:ph idx="2" type="body"/>
          </p:nvPr>
        </p:nvSpPr>
        <p:spPr>
          <a:xfrm>
            <a:off x="457199" y="4224973"/>
            <a:ext cx="7396163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800"/>
              </a:spcBef>
              <a:spcAft>
                <a:spcPts val="0"/>
              </a:spcAft>
              <a:buSzPts val="1800"/>
              <a:buChar char="◼"/>
              <a:defRPr sz="1800"/>
            </a:lvl1pPr>
            <a:lvl2pPr indent="-342900" lvl="1" marL="9144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2pPr>
            <a:lvl3pPr indent="-342900" lvl="2" marL="13716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3pPr>
            <a:lvl4pPr indent="-342900" lvl="3" marL="18288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4pPr>
            <a:lvl5pPr indent="-342900" lvl="4" marL="22860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objetos">
  <p:cSld name="3 objetos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6"/>
          <p:cNvSpPr/>
          <p:nvPr/>
        </p:nvSpPr>
        <p:spPr>
          <a:xfrm>
            <a:off x="8148918" y="268288"/>
            <a:ext cx="718073" cy="16459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8" name="Google Shape;88;p26"/>
          <p:cNvSpPr txBox="1"/>
          <p:nvPr>
            <p:ph type="title"/>
          </p:nvPr>
        </p:nvSpPr>
        <p:spPr>
          <a:xfrm>
            <a:off x="457200" y="914400"/>
            <a:ext cx="7391401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26"/>
          <p:cNvSpPr txBox="1"/>
          <p:nvPr>
            <p:ph idx="1" type="body"/>
          </p:nvPr>
        </p:nvSpPr>
        <p:spPr>
          <a:xfrm>
            <a:off x="4282440" y="2214562"/>
            <a:ext cx="356616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800"/>
              </a:spcBef>
              <a:spcAft>
                <a:spcPts val="0"/>
              </a:spcAft>
              <a:buSzPts val="1800"/>
              <a:buChar char="◼"/>
              <a:defRPr sz="1800"/>
            </a:lvl1pPr>
            <a:lvl2pPr indent="-342900" lvl="1" marL="9144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2pPr>
            <a:lvl3pPr indent="-342900" lvl="2" marL="13716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3pPr>
            <a:lvl4pPr indent="-342900" lvl="3" marL="18288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4pPr>
            <a:lvl5pPr indent="-342900" lvl="4" marL="22860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90" name="Google Shape;90;p26"/>
          <p:cNvSpPr txBox="1"/>
          <p:nvPr>
            <p:ph idx="10" type="dt"/>
          </p:nvPr>
        </p:nvSpPr>
        <p:spPr>
          <a:xfrm>
            <a:off x="7198659" y="6356352"/>
            <a:ext cx="1752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26"/>
          <p:cNvSpPr txBox="1"/>
          <p:nvPr>
            <p:ph idx="11" type="ftr"/>
          </p:nvPr>
        </p:nvSpPr>
        <p:spPr>
          <a:xfrm>
            <a:off x="174812" y="6356352"/>
            <a:ext cx="6007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26"/>
          <p:cNvSpPr txBox="1"/>
          <p:nvPr>
            <p:ph idx="12" type="sldNum"/>
          </p:nvPr>
        </p:nvSpPr>
        <p:spPr>
          <a:xfrm>
            <a:off x="8256494" y="361018"/>
            <a:ext cx="5065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3" name="Google Shape;93;p26"/>
          <p:cNvSpPr txBox="1"/>
          <p:nvPr>
            <p:ph idx="2" type="body"/>
          </p:nvPr>
        </p:nvSpPr>
        <p:spPr>
          <a:xfrm>
            <a:off x="4282440" y="4224973"/>
            <a:ext cx="356616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800"/>
              </a:spcBef>
              <a:spcAft>
                <a:spcPts val="0"/>
              </a:spcAft>
              <a:buSzPts val="1800"/>
              <a:buChar char="◼"/>
              <a:defRPr sz="1800"/>
            </a:lvl1pPr>
            <a:lvl2pPr indent="-342900" lvl="1" marL="9144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2pPr>
            <a:lvl3pPr indent="-342900" lvl="2" marL="13716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3pPr>
            <a:lvl4pPr indent="-342900" lvl="3" marL="18288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4pPr>
            <a:lvl5pPr indent="-342900" lvl="4" marL="22860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94" name="Google Shape;94;p26"/>
          <p:cNvSpPr txBox="1"/>
          <p:nvPr>
            <p:ph idx="3" type="body"/>
          </p:nvPr>
        </p:nvSpPr>
        <p:spPr>
          <a:xfrm>
            <a:off x="457200" y="2214563"/>
            <a:ext cx="3566160" cy="39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800"/>
              </a:spcBef>
              <a:spcAft>
                <a:spcPts val="0"/>
              </a:spcAft>
              <a:buSzPts val="1800"/>
              <a:buChar char="◼"/>
              <a:defRPr sz="1800"/>
            </a:lvl1pPr>
            <a:lvl2pPr indent="-342900" lvl="1" marL="9144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2pPr>
            <a:lvl3pPr indent="-342900" lvl="2" marL="13716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3pPr>
            <a:lvl4pPr indent="-342900" lvl="3" marL="18288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4pPr>
            <a:lvl5pPr indent="-342900" lvl="4" marL="22860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objetos">
  <p:cSld name="4 objetos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7"/>
          <p:cNvSpPr/>
          <p:nvPr/>
        </p:nvSpPr>
        <p:spPr>
          <a:xfrm>
            <a:off x="8148918" y="268288"/>
            <a:ext cx="718073" cy="16459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7" name="Google Shape;97;p27"/>
          <p:cNvSpPr txBox="1"/>
          <p:nvPr>
            <p:ph type="title"/>
          </p:nvPr>
        </p:nvSpPr>
        <p:spPr>
          <a:xfrm>
            <a:off x="457200" y="914400"/>
            <a:ext cx="7391401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7"/>
          <p:cNvSpPr txBox="1"/>
          <p:nvPr>
            <p:ph idx="1" type="body"/>
          </p:nvPr>
        </p:nvSpPr>
        <p:spPr>
          <a:xfrm>
            <a:off x="4282440" y="2214562"/>
            <a:ext cx="356616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800"/>
              </a:spcBef>
              <a:spcAft>
                <a:spcPts val="0"/>
              </a:spcAft>
              <a:buSzPts val="1800"/>
              <a:buChar char="◼"/>
              <a:defRPr sz="1800"/>
            </a:lvl1pPr>
            <a:lvl2pPr indent="-342900" lvl="1" marL="9144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2pPr>
            <a:lvl3pPr indent="-342900" lvl="2" marL="13716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3pPr>
            <a:lvl4pPr indent="-342900" lvl="3" marL="18288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4pPr>
            <a:lvl5pPr indent="-342900" lvl="4" marL="22860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99" name="Google Shape;99;p27"/>
          <p:cNvSpPr txBox="1"/>
          <p:nvPr>
            <p:ph idx="10" type="dt"/>
          </p:nvPr>
        </p:nvSpPr>
        <p:spPr>
          <a:xfrm>
            <a:off x="7198659" y="6356352"/>
            <a:ext cx="1752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27"/>
          <p:cNvSpPr txBox="1"/>
          <p:nvPr>
            <p:ph idx="11" type="ftr"/>
          </p:nvPr>
        </p:nvSpPr>
        <p:spPr>
          <a:xfrm>
            <a:off x="174812" y="6356352"/>
            <a:ext cx="6007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27"/>
          <p:cNvSpPr txBox="1"/>
          <p:nvPr>
            <p:ph idx="12" type="sldNum"/>
          </p:nvPr>
        </p:nvSpPr>
        <p:spPr>
          <a:xfrm>
            <a:off x="8256494" y="361018"/>
            <a:ext cx="5065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2" name="Google Shape;102;p27"/>
          <p:cNvSpPr txBox="1"/>
          <p:nvPr>
            <p:ph idx="2" type="body"/>
          </p:nvPr>
        </p:nvSpPr>
        <p:spPr>
          <a:xfrm>
            <a:off x="4282440" y="4224973"/>
            <a:ext cx="356616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800"/>
              </a:spcBef>
              <a:spcAft>
                <a:spcPts val="0"/>
              </a:spcAft>
              <a:buSzPts val="1800"/>
              <a:buChar char="◼"/>
              <a:defRPr sz="1800"/>
            </a:lvl1pPr>
            <a:lvl2pPr indent="-342900" lvl="1" marL="9144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2pPr>
            <a:lvl3pPr indent="-342900" lvl="2" marL="13716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3pPr>
            <a:lvl4pPr indent="-342900" lvl="3" marL="18288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4pPr>
            <a:lvl5pPr indent="-342900" lvl="4" marL="22860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03" name="Google Shape;103;p27"/>
          <p:cNvSpPr txBox="1"/>
          <p:nvPr>
            <p:ph idx="3" type="body"/>
          </p:nvPr>
        </p:nvSpPr>
        <p:spPr>
          <a:xfrm>
            <a:off x="457200" y="2214562"/>
            <a:ext cx="356616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800"/>
              </a:spcBef>
              <a:spcAft>
                <a:spcPts val="0"/>
              </a:spcAft>
              <a:buSzPts val="1800"/>
              <a:buChar char="◼"/>
              <a:defRPr sz="1800"/>
            </a:lvl1pPr>
            <a:lvl2pPr indent="-342900" lvl="1" marL="9144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2pPr>
            <a:lvl3pPr indent="-342900" lvl="2" marL="13716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3pPr>
            <a:lvl4pPr indent="-342900" lvl="3" marL="18288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4pPr>
            <a:lvl5pPr indent="-342900" lvl="4" marL="22860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04" name="Google Shape;104;p27"/>
          <p:cNvSpPr txBox="1"/>
          <p:nvPr>
            <p:ph idx="4" type="body"/>
          </p:nvPr>
        </p:nvSpPr>
        <p:spPr>
          <a:xfrm>
            <a:off x="457200" y="4224973"/>
            <a:ext cx="356616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800"/>
              </a:spcBef>
              <a:spcAft>
                <a:spcPts val="0"/>
              </a:spcAft>
              <a:buSzPts val="1800"/>
              <a:buChar char="◼"/>
              <a:defRPr sz="1800"/>
            </a:lvl1pPr>
            <a:lvl2pPr indent="-342900" lvl="1" marL="9144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2pPr>
            <a:lvl3pPr indent="-342900" lvl="2" marL="13716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3pPr>
            <a:lvl4pPr indent="-342900" lvl="3" marL="18288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4pPr>
            <a:lvl5pPr indent="-342900" lvl="4" marL="22860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lo el título" type="titleOnly">
  <p:cSld name="TITLE_ONLY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8"/>
          <p:cNvSpPr/>
          <p:nvPr/>
        </p:nvSpPr>
        <p:spPr>
          <a:xfrm>
            <a:off x="8148918" y="268288"/>
            <a:ext cx="718073" cy="16459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7" name="Google Shape;107;p28"/>
          <p:cNvSpPr txBox="1"/>
          <p:nvPr>
            <p:ph type="title"/>
          </p:nvPr>
        </p:nvSpPr>
        <p:spPr>
          <a:xfrm>
            <a:off x="457199" y="914400"/>
            <a:ext cx="650837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28"/>
          <p:cNvSpPr txBox="1"/>
          <p:nvPr>
            <p:ph idx="10" type="dt"/>
          </p:nvPr>
        </p:nvSpPr>
        <p:spPr>
          <a:xfrm>
            <a:off x="7198659" y="6356352"/>
            <a:ext cx="1752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28"/>
          <p:cNvSpPr txBox="1"/>
          <p:nvPr>
            <p:ph idx="11" type="ftr"/>
          </p:nvPr>
        </p:nvSpPr>
        <p:spPr>
          <a:xfrm>
            <a:off x="174812" y="6356352"/>
            <a:ext cx="6007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28"/>
          <p:cNvSpPr txBox="1"/>
          <p:nvPr>
            <p:ph idx="12" type="sldNum"/>
          </p:nvPr>
        </p:nvSpPr>
        <p:spPr>
          <a:xfrm>
            <a:off x="8256494" y="361018"/>
            <a:ext cx="5065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9"/>
          <p:cNvSpPr/>
          <p:nvPr/>
        </p:nvSpPr>
        <p:spPr>
          <a:xfrm>
            <a:off x="8148918" y="268288"/>
            <a:ext cx="718073" cy="5669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3" name="Google Shape;113;p29"/>
          <p:cNvSpPr txBox="1"/>
          <p:nvPr>
            <p:ph idx="10" type="dt"/>
          </p:nvPr>
        </p:nvSpPr>
        <p:spPr>
          <a:xfrm>
            <a:off x="7198659" y="6356352"/>
            <a:ext cx="1752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29"/>
          <p:cNvSpPr txBox="1"/>
          <p:nvPr>
            <p:ph idx="11" type="ftr"/>
          </p:nvPr>
        </p:nvSpPr>
        <p:spPr>
          <a:xfrm>
            <a:off x="174812" y="6356352"/>
            <a:ext cx="6007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29"/>
          <p:cNvSpPr txBox="1"/>
          <p:nvPr>
            <p:ph idx="12" type="sldNum"/>
          </p:nvPr>
        </p:nvSpPr>
        <p:spPr>
          <a:xfrm>
            <a:off x="8256494" y="361018"/>
            <a:ext cx="5065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0"/>
          <p:cNvSpPr/>
          <p:nvPr/>
        </p:nvSpPr>
        <p:spPr>
          <a:xfrm>
            <a:off x="8148918" y="268288"/>
            <a:ext cx="718073" cy="5669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8" name="Google Shape;118;p30"/>
          <p:cNvSpPr txBox="1"/>
          <p:nvPr>
            <p:ph type="title"/>
          </p:nvPr>
        </p:nvSpPr>
        <p:spPr>
          <a:xfrm>
            <a:off x="457199" y="995082"/>
            <a:ext cx="3566160" cy="103542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entury Gothic"/>
              <a:buNone/>
              <a:defRPr b="0"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30"/>
          <p:cNvSpPr txBox="1"/>
          <p:nvPr>
            <p:ph idx="1" type="body"/>
          </p:nvPr>
        </p:nvSpPr>
        <p:spPr>
          <a:xfrm>
            <a:off x="4762052" y="990600"/>
            <a:ext cx="3566160" cy="513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800"/>
              </a:spcBef>
              <a:spcAft>
                <a:spcPts val="0"/>
              </a:spcAft>
              <a:buSzPts val="1800"/>
              <a:buChar char="◼"/>
              <a:defRPr sz="1800"/>
            </a:lvl1pPr>
            <a:lvl2pPr indent="-342900" lvl="1" marL="9144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2pPr>
            <a:lvl3pPr indent="-342900" lvl="2" marL="13716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3pPr>
            <a:lvl4pPr indent="-342900" lvl="3" marL="18288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4pPr>
            <a:lvl5pPr indent="-342900" lvl="4" marL="22860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20" name="Google Shape;120;p30"/>
          <p:cNvSpPr txBox="1"/>
          <p:nvPr>
            <p:ph idx="2" type="body"/>
          </p:nvPr>
        </p:nvSpPr>
        <p:spPr>
          <a:xfrm>
            <a:off x="457199" y="2057401"/>
            <a:ext cx="3566160" cy="36576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8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21" name="Google Shape;121;p30"/>
          <p:cNvSpPr txBox="1"/>
          <p:nvPr>
            <p:ph idx="10" type="dt"/>
          </p:nvPr>
        </p:nvSpPr>
        <p:spPr>
          <a:xfrm>
            <a:off x="7198659" y="6356352"/>
            <a:ext cx="1752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30"/>
          <p:cNvSpPr txBox="1"/>
          <p:nvPr>
            <p:ph idx="11" type="ftr"/>
          </p:nvPr>
        </p:nvSpPr>
        <p:spPr>
          <a:xfrm>
            <a:off x="174812" y="6356352"/>
            <a:ext cx="6007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30"/>
          <p:cNvSpPr txBox="1"/>
          <p:nvPr>
            <p:ph idx="12" type="sldNum"/>
          </p:nvPr>
        </p:nvSpPr>
        <p:spPr>
          <a:xfrm>
            <a:off x="8256494" y="361018"/>
            <a:ext cx="5065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>
  <p:cSld name="Imagen con título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1"/>
          <p:cNvSpPr/>
          <p:nvPr/>
        </p:nvSpPr>
        <p:spPr>
          <a:xfrm>
            <a:off x="4746811" y="268288"/>
            <a:ext cx="4114800" cy="5669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6" name="Google Shape;126;p31"/>
          <p:cNvSpPr txBox="1"/>
          <p:nvPr>
            <p:ph type="title"/>
          </p:nvPr>
        </p:nvSpPr>
        <p:spPr>
          <a:xfrm>
            <a:off x="457199" y="995082"/>
            <a:ext cx="3566160" cy="103542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entury Gothic"/>
              <a:buNone/>
              <a:defRPr b="0"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31"/>
          <p:cNvSpPr txBox="1"/>
          <p:nvPr>
            <p:ph idx="1" type="body"/>
          </p:nvPr>
        </p:nvSpPr>
        <p:spPr>
          <a:xfrm>
            <a:off x="457199" y="2057401"/>
            <a:ext cx="3566160" cy="36576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8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28" name="Google Shape;128;p31"/>
          <p:cNvSpPr txBox="1"/>
          <p:nvPr>
            <p:ph idx="10" type="dt"/>
          </p:nvPr>
        </p:nvSpPr>
        <p:spPr>
          <a:xfrm>
            <a:off x="161365" y="6124016"/>
            <a:ext cx="1752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31"/>
          <p:cNvSpPr txBox="1"/>
          <p:nvPr>
            <p:ph idx="11" type="ftr"/>
          </p:nvPr>
        </p:nvSpPr>
        <p:spPr>
          <a:xfrm>
            <a:off x="174812" y="6356352"/>
            <a:ext cx="38637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31"/>
          <p:cNvSpPr txBox="1"/>
          <p:nvPr>
            <p:ph idx="12" type="sldNum"/>
          </p:nvPr>
        </p:nvSpPr>
        <p:spPr>
          <a:xfrm>
            <a:off x="8256494" y="361018"/>
            <a:ext cx="5065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1" name="Google Shape;131;p31"/>
          <p:cNvSpPr/>
          <p:nvPr>
            <p:ph idx="2" type="pic"/>
          </p:nvPr>
        </p:nvSpPr>
        <p:spPr>
          <a:xfrm>
            <a:off x="4760258" y="990600"/>
            <a:ext cx="4096512" cy="5611813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encima del título" type="picTx">
  <p:cSld name="PICTURE_WITH_CAPTION_TEXT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2"/>
          <p:cNvSpPr/>
          <p:nvPr/>
        </p:nvSpPr>
        <p:spPr>
          <a:xfrm>
            <a:off x="7216776" y="268288"/>
            <a:ext cx="1639457" cy="36393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4" name="Google Shape;134;p32"/>
          <p:cNvSpPr txBox="1"/>
          <p:nvPr>
            <p:ph type="title"/>
          </p:nvPr>
        </p:nvSpPr>
        <p:spPr>
          <a:xfrm>
            <a:off x="458788" y="4267200"/>
            <a:ext cx="64770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entury Gothic"/>
              <a:buNone/>
              <a:defRPr b="0"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32"/>
          <p:cNvSpPr/>
          <p:nvPr>
            <p:ph idx="2" type="pic"/>
          </p:nvPr>
        </p:nvSpPr>
        <p:spPr>
          <a:xfrm>
            <a:off x="269874" y="268288"/>
            <a:ext cx="6858000" cy="3639312"/>
          </a:xfrm>
          <a:prstGeom prst="rect">
            <a:avLst/>
          </a:prstGeom>
          <a:noFill/>
          <a:ln>
            <a:noFill/>
          </a:ln>
        </p:spPr>
      </p:sp>
      <p:sp>
        <p:nvSpPr>
          <p:cNvPr id="136" name="Google Shape;136;p32"/>
          <p:cNvSpPr txBox="1"/>
          <p:nvPr>
            <p:ph idx="1" type="body"/>
          </p:nvPr>
        </p:nvSpPr>
        <p:spPr>
          <a:xfrm>
            <a:off x="458788" y="4840943"/>
            <a:ext cx="6475412" cy="13042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8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37" name="Google Shape;137;p32"/>
          <p:cNvSpPr txBox="1"/>
          <p:nvPr>
            <p:ph idx="10" type="dt"/>
          </p:nvPr>
        </p:nvSpPr>
        <p:spPr>
          <a:xfrm>
            <a:off x="7198659" y="6356352"/>
            <a:ext cx="1752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32"/>
          <p:cNvSpPr txBox="1"/>
          <p:nvPr>
            <p:ph idx="11" type="ftr"/>
          </p:nvPr>
        </p:nvSpPr>
        <p:spPr>
          <a:xfrm>
            <a:off x="174812" y="6356352"/>
            <a:ext cx="6007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32"/>
          <p:cNvSpPr txBox="1"/>
          <p:nvPr>
            <p:ph idx="12" type="sldNum"/>
          </p:nvPr>
        </p:nvSpPr>
        <p:spPr>
          <a:xfrm>
            <a:off x="8256494" y="361018"/>
            <a:ext cx="5065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imágenes con título">
  <p:cSld name="4 imágenes con título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3"/>
          <p:cNvSpPr/>
          <p:nvPr/>
        </p:nvSpPr>
        <p:spPr>
          <a:xfrm>
            <a:off x="8135472" y="268288"/>
            <a:ext cx="720761" cy="36393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2" name="Google Shape;142;p33"/>
          <p:cNvSpPr txBox="1"/>
          <p:nvPr>
            <p:ph type="title"/>
          </p:nvPr>
        </p:nvSpPr>
        <p:spPr>
          <a:xfrm>
            <a:off x="458788" y="4267200"/>
            <a:ext cx="64770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entury Gothic"/>
              <a:buNone/>
              <a:defRPr b="0"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33"/>
          <p:cNvSpPr/>
          <p:nvPr>
            <p:ph idx="2" type="pic"/>
          </p:nvPr>
        </p:nvSpPr>
        <p:spPr>
          <a:xfrm>
            <a:off x="269874" y="268288"/>
            <a:ext cx="3006726" cy="3639312"/>
          </a:xfrm>
          <a:prstGeom prst="rect">
            <a:avLst/>
          </a:prstGeom>
          <a:noFill/>
          <a:ln>
            <a:noFill/>
          </a:ln>
        </p:spPr>
      </p:sp>
      <p:sp>
        <p:nvSpPr>
          <p:cNvPr id="144" name="Google Shape;144;p33"/>
          <p:cNvSpPr txBox="1"/>
          <p:nvPr>
            <p:ph idx="1" type="body"/>
          </p:nvPr>
        </p:nvSpPr>
        <p:spPr>
          <a:xfrm>
            <a:off x="458788" y="4840943"/>
            <a:ext cx="6475412" cy="13042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8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45" name="Google Shape;145;p33"/>
          <p:cNvSpPr txBox="1"/>
          <p:nvPr>
            <p:ph idx="10" type="dt"/>
          </p:nvPr>
        </p:nvSpPr>
        <p:spPr>
          <a:xfrm>
            <a:off x="7198659" y="6356352"/>
            <a:ext cx="1752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33"/>
          <p:cNvSpPr txBox="1"/>
          <p:nvPr>
            <p:ph idx="11" type="ftr"/>
          </p:nvPr>
        </p:nvSpPr>
        <p:spPr>
          <a:xfrm>
            <a:off x="174812" y="6356352"/>
            <a:ext cx="6007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33"/>
          <p:cNvSpPr txBox="1"/>
          <p:nvPr>
            <p:ph idx="12" type="sldNum"/>
          </p:nvPr>
        </p:nvSpPr>
        <p:spPr>
          <a:xfrm>
            <a:off x="8256494" y="361018"/>
            <a:ext cx="5065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8" name="Google Shape;148;p33"/>
          <p:cNvSpPr/>
          <p:nvPr>
            <p:ph idx="3" type="pic"/>
          </p:nvPr>
        </p:nvSpPr>
        <p:spPr>
          <a:xfrm>
            <a:off x="3352800" y="268290"/>
            <a:ext cx="4701988" cy="1775665"/>
          </a:xfrm>
          <a:prstGeom prst="rect">
            <a:avLst/>
          </a:prstGeom>
          <a:noFill/>
          <a:ln>
            <a:noFill/>
          </a:ln>
        </p:spPr>
      </p:sp>
      <p:sp>
        <p:nvSpPr>
          <p:cNvPr id="149" name="Google Shape;149;p33"/>
          <p:cNvSpPr/>
          <p:nvPr>
            <p:ph idx="4" type="pic"/>
          </p:nvPr>
        </p:nvSpPr>
        <p:spPr>
          <a:xfrm>
            <a:off x="3352800" y="2131937"/>
            <a:ext cx="2304288" cy="1775665"/>
          </a:xfrm>
          <a:prstGeom prst="rect">
            <a:avLst/>
          </a:prstGeom>
          <a:noFill/>
          <a:ln>
            <a:noFill/>
          </a:ln>
        </p:spPr>
      </p:sp>
      <p:sp>
        <p:nvSpPr>
          <p:cNvPr id="150" name="Google Shape;150;p33"/>
          <p:cNvSpPr/>
          <p:nvPr>
            <p:ph idx="5" type="pic"/>
          </p:nvPr>
        </p:nvSpPr>
        <p:spPr>
          <a:xfrm>
            <a:off x="5750500" y="2131937"/>
            <a:ext cx="2304288" cy="1775665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4"/>
          <p:cNvSpPr/>
          <p:nvPr/>
        </p:nvSpPr>
        <p:spPr>
          <a:xfrm>
            <a:off x="7212106" y="268288"/>
            <a:ext cx="1645920" cy="16459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3" name="Google Shape;153;p34"/>
          <p:cNvSpPr txBox="1"/>
          <p:nvPr>
            <p:ph type="title"/>
          </p:nvPr>
        </p:nvSpPr>
        <p:spPr>
          <a:xfrm>
            <a:off x="457199" y="914400"/>
            <a:ext cx="650837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34"/>
          <p:cNvSpPr txBox="1"/>
          <p:nvPr>
            <p:ph idx="1" type="body"/>
          </p:nvPr>
        </p:nvSpPr>
        <p:spPr>
          <a:xfrm rot="5400000">
            <a:off x="1753206" y="913795"/>
            <a:ext cx="3916363" cy="65083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800"/>
              </a:spcBef>
              <a:spcAft>
                <a:spcPts val="0"/>
              </a:spcAft>
              <a:buSzPts val="1800"/>
              <a:buChar char="◼"/>
              <a:defRPr/>
            </a:lvl1pPr>
            <a:lvl2pPr indent="-342900" lvl="1" marL="9144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2pPr>
            <a:lvl3pPr indent="-342900" lvl="2" marL="13716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3pPr>
            <a:lvl4pPr indent="-342900" lvl="3" marL="18288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4pPr>
            <a:lvl5pPr indent="-342900" lvl="4" marL="22860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5" name="Google Shape;155;p34"/>
          <p:cNvSpPr txBox="1"/>
          <p:nvPr>
            <p:ph idx="10" type="dt"/>
          </p:nvPr>
        </p:nvSpPr>
        <p:spPr>
          <a:xfrm>
            <a:off x="7198659" y="6356352"/>
            <a:ext cx="1752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34"/>
          <p:cNvSpPr txBox="1"/>
          <p:nvPr>
            <p:ph idx="11" type="ftr"/>
          </p:nvPr>
        </p:nvSpPr>
        <p:spPr>
          <a:xfrm>
            <a:off x="174812" y="6356352"/>
            <a:ext cx="6007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34"/>
          <p:cNvSpPr txBox="1"/>
          <p:nvPr>
            <p:ph idx="12" type="sldNum"/>
          </p:nvPr>
        </p:nvSpPr>
        <p:spPr>
          <a:xfrm>
            <a:off x="8256494" y="361018"/>
            <a:ext cx="5065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5"/>
          <p:cNvSpPr/>
          <p:nvPr/>
        </p:nvSpPr>
        <p:spPr>
          <a:xfrm>
            <a:off x="8148918" y="268288"/>
            <a:ext cx="718073" cy="5669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60" name="Google Shape;160;p35"/>
          <p:cNvSpPr txBox="1"/>
          <p:nvPr>
            <p:ph type="title"/>
          </p:nvPr>
        </p:nvSpPr>
        <p:spPr>
          <a:xfrm rot="5400000">
            <a:off x="5659578" y="2919648"/>
            <a:ext cx="5090739" cy="13222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35"/>
          <p:cNvSpPr txBox="1"/>
          <p:nvPr>
            <p:ph idx="1" type="body"/>
          </p:nvPr>
        </p:nvSpPr>
        <p:spPr>
          <a:xfrm rot="5400000">
            <a:off x="912206" y="580420"/>
            <a:ext cx="5109789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800"/>
              </a:spcBef>
              <a:spcAft>
                <a:spcPts val="0"/>
              </a:spcAft>
              <a:buSzPts val="1800"/>
              <a:buChar char="◼"/>
              <a:defRPr/>
            </a:lvl1pPr>
            <a:lvl2pPr indent="-342900" lvl="1" marL="9144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2pPr>
            <a:lvl3pPr indent="-342900" lvl="2" marL="13716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3pPr>
            <a:lvl4pPr indent="-342900" lvl="3" marL="18288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4pPr>
            <a:lvl5pPr indent="-342900" lvl="4" marL="22860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2" name="Google Shape;162;p35"/>
          <p:cNvSpPr txBox="1"/>
          <p:nvPr>
            <p:ph idx="10" type="dt"/>
          </p:nvPr>
        </p:nvSpPr>
        <p:spPr>
          <a:xfrm>
            <a:off x="7198659" y="6356352"/>
            <a:ext cx="1752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p35"/>
          <p:cNvSpPr txBox="1"/>
          <p:nvPr>
            <p:ph idx="11" type="ftr"/>
          </p:nvPr>
        </p:nvSpPr>
        <p:spPr>
          <a:xfrm>
            <a:off x="174812" y="6356352"/>
            <a:ext cx="6007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p35"/>
          <p:cNvSpPr txBox="1"/>
          <p:nvPr>
            <p:ph idx="12" type="sldNum"/>
          </p:nvPr>
        </p:nvSpPr>
        <p:spPr>
          <a:xfrm>
            <a:off x="8256494" y="361018"/>
            <a:ext cx="5065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, texto y 2 objetos" type="txAndTwoObj">
  <p:cSld name="TEXT_AND_TWO_OBJECTS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6"/>
          <p:cNvSpPr txBox="1"/>
          <p:nvPr>
            <p:ph type="title"/>
          </p:nvPr>
        </p:nvSpPr>
        <p:spPr>
          <a:xfrm>
            <a:off x="838200" y="442913"/>
            <a:ext cx="7162800" cy="25479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p36"/>
          <p:cNvSpPr txBox="1"/>
          <p:nvPr>
            <p:ph idx="1" type="body"/>
          </p:nvPr>
        </p:nvSpPr>
        <p:spPr>
          <a:xfrm>
            <a:off x="857251" y="1143000"/>
            <a:ext cx="3488267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800"/>
              </a:spcBef>
              <a:spcAft>
                <a:spcPts val="0"/>
              </a:spcAft>
              <a:buSzPts val="1800"/>
              <a:buChar char="◼"/>
              <a:defRPr/>
            </a:lvl1pPr>
            <a:lvl2pPr indent="-342900" lvl="1" marL="9144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2pPr>
            <a:lvl3pPr indent="-342900" lvl="2" marL="13716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3pPr>
            <a:lvl4pPr indent="-342900" lvl="3" marL="18288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4pPr>
            <a:lvl5pPr indent="-342900" lvl="4" marL="22860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8" name="Google Shape;168;p36"/>
          <p:cNvSpPr txBox="1"/>
          <p:nvPr>
            <p:ph idx="2" type="body"/>
          </p:nvPr>
        </p:nvSpPr>
        <p:spPr>
          <a:xfrm>
            <a:off x="4548719" y="1143000"/>
            <a:ext cx="3490383" cy="2457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800"/>
              </a:spcBef>
              <a:spcAft>
                <a:spcPts val="0"/>
              </a:spcAft>
              <a:buSzPts val="1800"/>
              <a:buChar char="◼"/>
              <a:defRPr/>
            </a:lvl1pPr>
            <a:lvl2pPr indent="-342900" lvl="1" marL="9144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2pPr>
            <a:lvl3pPr indent="-342900" lvl="2" marL="13716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3pPr>
            <a:lvl4pPr indent="-342900" lvl="3" marL="18288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4pPr>
            <a:lvl5pPr indent="-342900" lvl="4" marL="22860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9" name="Google Shape;169;p36"/>
          <p:cNvSpPr txBox="1"/>
          <p:nvPr>
            <p:ph idx="3" type="body"/>
          </p:nvPr>
        </p:nvSpPr>
        <p:spPr>
          <a:xfrm>
            <a:off x="4548719" y="3714750"/>
            <a:ext cx="3490383" cy="2457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800"/>
              </a:spcBef>
              <a:spcAft>
                <a:spcPts val="0"/>
              </a:spcAft>
              <a:buSzPts val="1800"/>
              <a:buChar char="◼"/>
              <a:defRPr/>
            </a:lvl1pPr>
            <a:lvl2pPr indent="-342900" lvl="1" marL="9144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2pPr>
            <a:lvl3pPr indent="-342900" lvl="2" marL="13716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3pPr>
            <a:lvl4pPr indent="-342900" lvl="3" marL="18288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4pPr>
            <a:lvl5pPr indent="-342900" lvl="4" marL="22860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10.xml"/><Relationship Id="rId22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9.xml"/><Relationship Id="rId21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23" Type="http://schemas.openxmlformats.org/officeDocument/2006/relationships/theme" Target="../theme/theme2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19" Type="http://schemas.openxmlformats.org/officeDocument/2006/relationships/slideLayout" Target="../slideLayouts/slideLayout18.xml"/><Relationship Id="rId6" Type="http://schemas.openxmlformats.org/officeDocument/2006/relationships/slideLayout" Target="../slideLayouts/slideLayout5.xml"/><Relationship Id="rId1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 txBox="1"/>
          <p:nvPr>
            <p:ph type="title"/>
          </p:nvPr>
        </p:nvSpPr>
        <p:spPr>
          <a:xfrm>
            <a:off x="457199" y="914400"/>
            <a:ext cx="650837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entury Gothic"/>
              <a:buNone/>
              <a:defRPr b="0" i="0" sz="36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5"/>
          <p:cNvSpPr txBox="1"/>
          <p:nvPr>
            <p:ph idx="1" type="body"/>
          </p:nvPr>
        </p:nvSpPr>
        <p:spPr>
          <a:xfrm>
            <a:off x="457199" y="2209802"/>
            <a:ext cx="6508377" cy="39163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marR="0" rtl="0" algn="l"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◼"/>
              <a:defRPr b="0" i="0" sz="20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42900" lvl="1" marL="914400" marR="0" rtl="0" algn="l">
              <a:spcBef>
                <a:spcPts val="600"/>
              </a:spcBef>
              <a:spcAft>
                <a:spcPts val="0"/>
              </a:spcAft>
              <a:buClr>
                <a:srgbClr val="0E4366"/>
              </a:buClr>
              <a:buSzPts val="1800"/>
              <a:buFont typeface="Noto Sans Symbols"/>
              <a:buChar char="◼"/>
              <a:defRPr b="0" i="0" sz="18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42900" lvl="2" marL="13716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◼"/>
              <a:defRPr b="0" i="0" sz="18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42900" lvl="3" marL="1828800" marR="0" rtl="0" algn="l">
              <a:spcBef>
                <a:spcPts val="600"/>
              </a:spcBef>
              <a:spcAft>
                <a:spcPts val="0"/>
              </a:spcAft>
              <a:buClr>
                <a:srgbClr val="0E4366"/>
              </a:buClr>
              <a:buSzPts val="1800"/>
              <a:buFont typeface="Noto Sans Symbols"/>
              <a:buChar char="◼"/>
              <a:defRPr b="0" i="0" sz="18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42900" lvl="4" marL="22860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◼"/>
              <a:defRPr b="0" i="0" sz="18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2" name="Google Shape;12;p15"/>
          <p:cNvSpPr txBox="1"/>
          <p:nvPr>
            <p:ph idx="10" type="dt"/>
          </p:nvPr>
        </p:nvSpPr>
        <p:spPr>
          <a:xfrm>
            <a:off x="7198659" y="6356352"/>
            <a:ext cx="1752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100" u="none" cap="none" strike="noStrike">
                <a:solidFill>
                  <a:srgbClr val="79797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3" name="Google Shape;13;p15"/>
          <p:cNvSpPr txBox="1"/>
          <p:nvPr>
            <p:ph idx="11" type="ftr"/>
          </p:nvPr>
        </p:nvSpPr>
        <p:spPr>
          <a:xfrm>
            <a:off x="174812" y="6356352"/>
            <a:ext cx="6007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100" u="none" cap="none" strike="noStrike">
                <a:solidFill>
                  <a:srgbClr val="79797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4" name="Google Shape;14;p15"/>
          <p:cNvSpPr txBox="1"/>
          <p:nvPr>
            <p:ph idx="12" type="sldNum"/>
          </p:nvPr>
        </p:nvSpPr>
        <p:spPr>
          <a:xfrm>
            <a:off x="8256494" y="361018"/>
            <a:ext cx="5065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1" i="0" sz="2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r">
              <a:spcBef>
                <a:spcPts val="0"/>
              </a:spcBef>
              <a:buNone/>
              <a:defRPr b="1" i="0" sz="2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r">
              <a:spcBef>
                <a:spcPts val="0"/>
              </a:spcBef>
              <a:buNone/>
              <a:defRPr b="1" i="0" sz="2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r">
              <a:spcBef>
                <a:spcPts val="0"/>
              </a:spcBef>
              <a:buNone/>
              <a:defRPr b="1" i="0" sz="2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r">
              <a:spcBef>
                <a:spcPts val="0"/>
              </a:spcBef>
              <a:buNone/>
              <a:defRPr b="1" i="0" sz="2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r">
              <a:spcBef>
                <a:spcPts val="0"/>
              </a:spcBef>
              <a:buNone/>
              <a:defRPr b="1" i="0" sz="2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r">
              <a:spcBef>
                <a:spcPts val="0"/>
              </a:spcBef>
              <a:buNone/>
              <a:defRPr b="1" i="0" sz="2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r">
              <a:spcBef>
                <a:spcPts val="0"/>
              </a:spcBef>
              <a:buNone/>
              <a:defRPr b="1" i="0" sz="2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r">
              <a:spcBef>
                <a:spcPts val="0"/>
              </a:spcBef>
              <a:buNone/>
              <a:defRPr b="1" i="0" sz="2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File:UNAL Aplicación Manizales.svg - Wikimedia Commons" id="15" name="Google Shape;15;p15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457199" y="111479"/>
            <a:ext cx="1821392" cy="80292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"/>
          <p:cNvSpPr txBox="1"/>
          <p:nvPr>
            <p:ph type="ctrTitle"/>
          </p:nvPr>
        </p:nvSpPr>
        <p:spPr>
          <a:xfrm>
            <a:off x="3200400" y="4208929"/>
            <a:ext cx="5458968" cy="104868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entury Gothic"/>
              <a:buNone/>
            </a:pPr>
            <a:r>
              <a:rPr lang="en-US" sz="2800">
                <a:solidFill>
                  <a:schemeClr val="dk1"/>
                </a:solidFill>
              </a:rPr>
              <a:t>Datos estudiantes</a:t>
            </a:r>
            <a:endParaRPr/>
          </a:p>
        </p:txBody>
      </p:sp>
      <p:sp>
        <p:nvSpPr>
          <p:cNvPr id="176" name="Google Shape;176;p1"/>
          <p:cNvSpPr txBox="1"/>
          <p:nvPr>
            <p:ph idx="1" type="subTitle"/>
          </p:nvPr>
        </p:nvSpPr>
        <p:spPr>
          <a:xfrm>
            <a:off x="3200400" y="5257800"/>
            <a:ext cx="5458968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</a:pPr>
            <a:r>
              <a:rPr b="1" lang="en-US" sz="1400">
                <a:solidFill>
                  <a:schemeClr val="accent1"/>
                </a:solidFill>
              </a:rPr>
              <a:t>Nombres, apellidos, correo por cada estudiante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</p:txBody>
      </p:sp>
      <p:sp>
        <p:nvSpPr>
          <p:cNvPr id="177" name="Google Shape;177;p1"/>
          <p:cNvSpPr txBox="1"/>
          <p:nvPr/>
        </p:nvSpPr>
        <p:spPr>
          <a:xfrm>
            <a:off x="3535838" y="502410"/>
            <a:ext cx="512353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Tutorial Titulo</a:t>
            </a:r>
            <a:endParaRPr b="1" i="0" sz="3200" u="none" cap="none" strike="noStrik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78" name="Google Shape;178;p1"/>
          <p:cNvSpPr/>
          <p:nvPr/>
        </p:nvSpPr>
        <p:spPr>
          <a:xfrm>
            <a:off x="384048" y="5998974"/>
            <a:ext cx="2606040" cy="713232"/>
          </a:xfrm>
          <a:prstGeom prst="rect">
            <a:avLst/>
          </a:prstGeom>
          <a:solidFill>
            <a:srgbClr val="EA4B71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79" name="Google Shape;179;p1"/>
          <p:cNvSpPr/>
          <p:nvPr/>
        </p:nvSpPr>
        <p:spPr>
          <a:xfrm>
            <a:off x="475488" y="6026406"/>
            <a:ext cx="2423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NIVEL 1</a:t>
            </a:r>
            <a:endParaRPr sz="1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0" name="Google Shape;180;p1"/>
          <p:cNvSpPr/>
          <p:nvPr/>
        </p:nvSpPr>
        <p:spPr>
          <a:xfrm>
            <a:off x="475488" y="6273294"/>
            <a:ext cx="1645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EECC"/>
              </a:buClr>
              <a:buSzPts val="900"/>
              <a:buFont typeface="Calibri"/>
              <a:buNone/>
            </a:pPr>
            <a:r>
              <a:rPr i="1" lang="en-US" sz="900">
                <a:solidFill>
                  <a:srgbClr val="FFEECC"/>
                </a:solidFill>
                <a:latin typeface="Calibri"/>
                <a:ea typeface="Calibri"/>
                <a:cs typeface="Calibri"/>
                <a:sym typeface="Calibri"/>
              </a:rPr>
              <a:t>N8n</a:t>
            </a:r>
            <a:endParaRPr sz="9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1" name="Google Shape;181;p1"/>
          <p:cNvSpPr/>
          <p:nvPr/>
        </p:nvSpPr>
        <p:spPr>
          <a:xfrm>
            <a:off x="2167128" y="6255006"/>
            <a:ext cx="7315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≤ 3.5</a:t>
            </a:r>
            <a:endParaRPr sz="13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2" name="Google Shape;182;p1"/>
          <p:cNvSpPr/>
          <p:nvPr/>
        </p:nvSpPr>
        <p:spPr>
          <a:xfrm>
            <a:off x="3218688" y="5998974"/>
            <a:ext cx="2606040" cy="713232"/>
          </a:xfrm>
          <a:prstGeom prst="rect">
            <a:avLst/>
          </a:prstGeom>
          <a:solidFill>
            <a:srgbClr val="27A99E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3" name="Google Shape;183;p1"/>
          <p:cNvSpPr/>
          <p:nvPr/>
        </p:nvSpPr>
        <p:spPr>
          <a:xfrm>
            <a:off x="3310128" y="6026406"/>
            <a:ext cx="2423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NIVEL 2</a:t>
            </a:r>
            <a:endParaRPr sz="1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4" name="Google Shape;184;p1"/>
          <p:cNvSpPr/>
          <p:nvPr/>
        </p:nvSpPr>
        <p:spPr>
          <a:xfrm>
            <a:off x="3310128" y="6273294"/>
            <a:ext cx="1645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EECC"/>
              </a:buClr>
              <a:buSzPts val="900"/>
              <a:buFont typeface="Calibri"/>
              <a:buNone/>
            </a:pPr>
            <a:r>
              <a:rPr i="1" lang="en-US" sz="900">
                <a:solidFill>
                  <a:srgbClr val="FFEECC"/>
                </a:solidFill>
                <a:latin typeface="Calibri"/>
                <a:ea typeface="Calibri"/>
                <a:cs typeface="Calibri"/>
                <a:sym typeface="Calibri"/>
              </a:rPr>
              <a:t>LangChain</a:t>
            </a:r>
            <a:endParaRPr sz="9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5" name="Google Shape;185;p1"/>
          <p:cNvSpPr/>
          <p:nvPr/>
        </p:nvSpPr>
        <p:spPr>
          <a:xfrm>
            <a:off x="5001768" y="6255006"/>
            <a:ext cx="7315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≤ 4.5</a:t>
            </a:r>
            <a:endParaRPr sz="13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6" name="Google Shape;186;p1"/>
          <p:cNvSpPr/>
          <p:nvPr/>
        </p:nvSpPr>
        <p:spPr>
          <a:xfrm>
            <a:off x="6053328" y="5998974"/>
            <a:ext cx="2606040" cy="713232"/>
          </a:xfrm>
          <a:prstGeom prst="rect">
            <a:avLst/>
          </a:prstGeom>
          <a:solidFill>
            <a:srgbClr val="5B2D8E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7" name="Google Shape;187;p1"/>
          <p:cNvSpPr/>
          <p:nvPr/>
        </p:nvSpPr>
        <p:spPr>
          <a:xfrm>
            <a:off x="6144768" y="6026406"/>
            <a:ext cx="2423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NIVEL 3</a:t>
            </a:r>
            <a:endParaRPr sz="1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8" name="Google Shape;188;p1"/>
          <p:cNvSpPr/>
          <p:nvPr/>
        </p:nvSpPr>
        <p:spPr>
          <a:xfrm>
            <a:off x="6144768" y="6273294"/>
            <a:ext cx="1645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EECC"/>
              </a:buClr>
              <a:buSzPts val="900"/>
              <a:buFont typeface="Calibri"/>
              <a:buNone/>
            </a:pPr>
            <a:r>
              <a:rPr i="1" lang="en-US" sz="900">
                <a:solidFill>
                  <a:srgbClr val="FFEECC"/>
                </a:solidFill>
                <a:latin typeface="Calibri"/>
                <a:ea typeface="Calibri"/>
                <a:cs typeface="Calibri"/>
                <a:sym typeface="Calibri"/>
              </a:rPr>
              <a:t>Racionalidad</a:t>
            </a:r>
            <a:endParaRPr sz="9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9" name="Google Shape;189;p1"/>
          <p:cNvSpPr/>
          <p:nvPr/>
        </p:nvSpPr>
        <p:spPr>
          <a:xfrm>
            <a:off x="7836408" y="6255006"/>
            <a:ext cx="7315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= 5.0</a:t>
            </a:r>
            <a:endParaRPr sz="13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  <mc:AlternateContent>
    <mc:Choice Requires="p14">
      <p:transition spd="slow" p14:dur="1200">
        <p14:prism dir="l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"/>
          <p:cNvSpPr txBox="1"/>
          <p:nvPr>
            <p:ph type="title"/>
          </p:nvPr>
        </p:nvSpPr>
        <p:spPr>
          <a:xfrm>
            <a:off x="1628663" y="519366"/>
            <a:ext cx="650837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entury Gothic"/>
              <a:buNone/>
            </a:pPr>
            <a:r>
              <a:rPr lang="en-US"/>
              <a:t>Agenda</a:t>
            </a:r>
            <a:br>
              <a:rPr lang="en-US"/>
            </a:br>
            <a:endParaRPr/>
          </a:p>
        </p:txBody>
      </p:sp>
      <p:sp>
        <p:nvSpPr>
          <p:cNvPr id="195" name="Google Shape;195;p2"/>
          <p:cNvSpPr txBox="1"/>
          <p:nvPr>
            <p:ph idx="1" type="body"/>
          </p:nvPr>
        </p:nvSpPr>
        <p:spPr>
          <a:xfrm>
            <a:off x="2230581" y="1470818"/>
            <a:ext cx="6508377" cy="39163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spcBef>
                <a:spcPts val="0"/>
              </a:spcBef>
              <a:spcAft>
                <a:spcPts val="0"/>
              </a:spcAft>
              <a:buSzPts val="2000"/>
              <a:buChar char="◼"/>
            </a:pPr>
            <a:r>
              <a:rPr lang="en-US"/>
              <a:t>Definición</a:t>
            </a:r>
            <a:endParaRPr/>
          </a:p>
          <a:p>
            <a:pPr indent="-228600" lvl="0" marL="228600" rtl="0" algn="l">
              <a:spcBef>
                <a:spcPts val="1800"/>
              </a:spcBef>
              <a:spcAft>
                <a:spcPts val="0"/>
              </a:spcAft>
              <a:buSzPts val="2000"/>
              <a:buChar char="◼"/>
            </a:pPr>
            <a:r>
              <a:rPr lang="en-US"/>
              <a:t>Ejemplo</a:t>
            </a:r>
            <a:endParaRPr/>
          </a:p>
          <a:p>
            <a:pPr indent="-101600" lvl="0" marL="228600" rtl="0" algn="l">
              <a:spcBef>
                <a:spcPts val="18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"/>
          <p:cNvSpPr txBox="1"/>
          <p:nvPr>
            <p:ph type="title"/>
          </p:nvPr>
        </p:nvSpPr>
        <p:spPr>
          <a:xfrm>
            <a:off x="2438425" y="1024573"/>
            <a:ext cx="650837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entury Gothic"/>
              <a:buNone/>
            </a:pPr>
            <a:r>
              <a:rPr lang="en-US"/>
              <a:t>Introducción</a:t>
            </a:r>
            <a:br>
              <a:rPr lang="en-US"/>
            </a:b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4"/>
          <p:cNvSpPr/>
          <p:nvPr/>
        </p:nvSpPr>
        <p:spPr>
          <a:xfrm>
            <a:off x="0" y="1008668"/>
            <a:ext cx="8757501" cy="53438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7" name="Google Shape;207;p4"/>
          <p:cNvSpPr/>
          <p:nvPr/>
        </p:nvSpPr>
        <p:spPr>
          <a:xfrm>
            <a:off x="274320" y="857250"/>
            <a:ext cx="85953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  |  Justificación del Proyecto</a:t>
            </a:r>
            <a:endParaRPr sz="2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8" name="Google Shape;208;p4"/>
          <p:cNvSpPr/>
          <p:nvPr/>
        </p:nvSpPr>
        <p:spPr>
          <a:xfrm>
            <a:off x="0" y="5749290"/>
            <a:ext cx="9144000" cy="251460"/>
          </a:xfrm>
          <a:prstGeom prst="rect">
            <a:avLst/>
          </a:prstGeom>
          <a:solidFill>
            <a:srgbClr val="C8A41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9" name="Google Shape;209;p4"/>
          <p:cNvSpPr/>
          <p:nvPr/>
        </p:nvSpPr>
        <p:spPr>
          <a:xfrm>
            <a:off x="182880" y="5749290"/>
            <a:ext cx="8778240" cy="2514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003087"/>
                </a:solidFill>
                <a:latin typeface="Calibri"/>
                <a:ea typeface="Calibri"/>
                <a:cs typeface="Calibri"/>
                <a:sym typeface="Calibri"/>
              </a:rPr>
              <a:t>Maestría en Inteligencia Artificial — UNAL Sede Manizales</a:t>
            </a:r>
            <a:endParaRPr sz="8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0" name="Google Shape;210;p4"/>
          <p:cNvSpPr/>
          <p:nvPr/>
        </p:nvSpPr>
        <p:spPr>
          <a:xfrm>
            <a:off x="320040" y="1680210"/>
            <a:ext cx="8503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3087"/>
                </a:solidFill>
                <a:latin typeface="Calibri"/>
                <a:ea typeface="Calibri"/>
                <a:cs typeface="Calibri"/>
                <a:sym typeface="Calibri"/>
              </a:rPr>
              <a:t>¿Por qué es relevante este proyecto?</a:t>
            </a:r>
            <a:endParaRPr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1" name="Google Shape;211;p4"/>
          <p:cNvSpPr/>
          <p:nvPr/>
        </p:nvSpPr>
        <p:spPr>
          <a:xfrm>
            <a:off x="274320" y="2155698"/>
            <a:ext cx="2788920" cy="32918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2" name="Google Shape;212;p4"/>
          <p:cNvSpPr/>
          <p:nvPr/>
        </p:nvSpPr>
        <p:spPr>
          <a:xfrm>
            <a:off x="274320" y="2155698"/>
            <a:ext cx="2788920" cy="34747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3" name="Google Shape;213;p4"/>
          <p:cNvSpPr/>
          <p:nvPr/>
        </p:nvSpPr>
        <p:spPr>
          <a:xfrm>
            <a:off x="365760" y="2155698"/>
            <a:ext cx="2606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🎯  Problema identificado</a:t>
            </a:r>
            <a:endParaRPr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4" name="Google Shape;214;p4"/>
          <p:cNvSpPr/>
          <p:nvPr/>
        </p:nvSpPr>
        <p:spPr>
          <a:xfrm>
            <a:off x="365760" y="2576322"/>
            <a:ext cx="2606040" cy="2788920"/>
          </a:xfrm>
          <a:prstGeom prst="rect">
            <a:avLst/>
          </a:prstGeom>
          <a:solidFill>
            <a:srgbClr val="FAFAFA"/>
          </a:solidFill>
          <a:ln cap="flat" cmpd="sng" w="15225">
            <a:solidFill>
              <a:srgbClr val="C8A41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5" name="Google Shape;215;p4"/>
          <p:cNvSpPr/>
          <p:nvPr/>
        </p:nvSpPr>
        <p:spPr>
          <a:xfrm>
            <a:off x="438912" y="2631186"/>
            <a:ext cx="2459736" cy="26791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20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Describa el problema o necesidad que motiva el proyecto. ¿Qué situación del mundo real busca resolver?</a:t>
            </a:r>
            <a:endParaRPr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20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[Complete aquí]</a:t>
            </a:r>
            <a:endParaRPr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6" name="Google Shape;216;p4"/>
          <p:cNvSpPr/>
          <p:nvPr/>
        </p:nvSpPr>
        <p:spPr>
          <a:xfrm>
            <a:off x="3246120" y="2155698"/>
            <a:ext cx="2788920" cy="32918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7" name="Google Shape;217;p4"/>
          <p:cNvSpPr/>
          <p:nvPr/>
        </p:nvSpPr>
        <p:spPr>
          <a:xfrm>
            <a:off x="3246120" y="2155698"/>
            <a:ext cx="2788920" cy="34747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8" name="Google Shape;218;p4"/>
          <p:cNvSpPr/>
          <p:nvPr/>
        </p:nvSpPr>
        <p:spPr>
          <a:xfrm>
            <a:off x="3337560" y="2155698"/>
            <a:ext cx="2606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💡  Propuesta de solución</a:t>
            </a:r>
            <a:endParaRPr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9" name="Google Shape;219;p4"/>
          <p:cNvSpPr/>
          <p:nvPr/>
        </p:nvSpPr>
        <p:spPr>
          <a:xfrm>
            <a:off x="3337560" y="2576322"/>
            <a:ext cx="2606040" cy="2788920"/>
          </a:xfrm>
          <a:prstGeom prst="rect">
            <a:avLst/>
          </a:prstGeom>
          <a:solidFill>
            <a:srgbClr val="FAFAFA"/>
          </a:solidFill>
          <a:ln cap="flat" cmpd="sng" w="15225">
            <a:solidFill>
              <a:srgbClr val="C8A41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20" name="Google Shape;220;p4"/>
          <p:cNvSpPr/>
          <p:nvPr/>
        </p:nvSpPr>
        <p:spPr>
          <a:xfrm>
            <a:off x="3410712" y="2631186"/>
            <a:ext cx="2459736" cy="26791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20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¿Cómo la combinación de automatización (N8n) e IA conversacional (LangChain) resuelve el problema?</a:t>
            </a:r>
            <a:endParaRPr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20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[Complete aquí]</a:t>
            </a:r>
            <a:endParaRPr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21" name="Google Shape;221;p4"/>
          <p:cNvSpPr/>
          <p:nvPr/>
        </p:nvSpPr>
        <p:spPr>
          <a:xfrm>
            <a:off x="6217920" y="2155698"/>
            <a:ext cx="2788920" cy="32918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22" name="Google Shape;222;p4"/>
          <p:cNvSpPr/>
          <p:nvPr/>
        </p:nvSpPr>
        <p:spPr>
          <a:xfrm>
            <a:off x="6217920" y="2155698"/>
            <a:ext cx="2788920" cy="34747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23" name="Google Shape;223;p4"/>
          <p:cNvSpPr/>
          <p:nvPr/>
        </p:nvSpPr>
        <p:spPr>
          <a:xfrm>
            <a:off x="6309360" y="2155698"/>
            <a:ext cx="2606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🏫  Relevancia académica</a:t>
            </a:r>
            <a:endParaRPr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24" name="Google Shape;224;p4"/>
          <p:cNvSpPr/>
          <p:nvPr/>
        </p:nvSpPr>
        <p:spPr>
          <a:xfrm>
            <a:off x="6309360" y="2576322"/>
            <a:ext cx="2606040" cy="2788920"/>
          </a:xfrm>
          <a:prstGeom prst="rect">
            <a:avLst/>
          </a:prstGeom>
          <a:solidFill>
            <a:srgbClr val="FAFAFA"/>
          </a:solidFill>
          <a:ln cap="flat" cmpd="sng" w="15225">
            <a:solidFill>
              <a:srgbClr val="C8A41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25" name="Google Shape;225;p4"/>
          <p:cNvSpPr/>
          <p:nvPr/>
        </p:nvSpPr>
        <p:spPr>
          <a:xfrm>
            <a:off x="6382512" y="2631186"/>
            <a:ext cx="2459736" cy="26791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20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¿Qué competencias de la Especialización  en IA se aplican? </a:t>
            </a:r>
            <a:endParaRPr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20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[Complete aquí]</a:t>
            </a:r>
            <a:endParaRPr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5"/>
          <p:cNvSpPr/>
          <p:nvPr/>
        </p:nvSpPr>
        <p:spPr>
          <a:xfrm>
            <a:off x="182880" y="989838"/>
            <a:ext cx="8778240" cy="502920"/>
          </a:xfrm>
          <a:prstGeom prst="rect">
            <a:avLst/>
          </a:prstGeom>
          <a:solidFill>
            <a:srgbClr val="EA4B7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2" name="Google Shape;232;p5"/>
          <p:cNvSpPr/>
          <p:nvPr/>
        </p:nvSpPr>
        <p:spPr>
          <a:xfrm>
            <a:off x="457200" y="989838"/>
            <a:ext cx="825154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  |  N8n — Descripción del Flujo de Automatización</a:t>
            </a:r>
            <a:endParaRPr sz="2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3" name="Google Shape;233;p5"/>
          <p:cNvSpPr/>
          <p:nvPr/>
        </p:nvSpPr>
        <p:spPr>
          <a:xfrm>
            <a:off x="182880" y="5749290"/>
            <a:ext cx="8778240" cy="2514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003087"/>
                </a:solidFill>
                <a:latin typeface="Calibri"/>
                <a:ea typeface="Calibri"/>
                <a:cs typeface="Calibri"/>
                <a:sym typeface="Calibri"/>
              </a:rPr>
              <a:t>Especialización  en Inteligencia Artificial — UNAL Sede Manizales   |   NIVEL 1 — hasta 3.5</a:t>
            </a:r>
            <a:endParaRPr sz="8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4" name="Google Shape;234;p5"/>
          <p:cNvSpPr/>
          <p:nvPr/>
        </p:nvSpPr>
        <p:spPr>
          <a:xfrm>
            <a:off x="7498080" y="1661922"/>
            <a:ext cx="1280160" cy="256032"/>
          </a:xfrm>
          <a:prstGeom prst="rect">
            <a:avLst/>
          </a:prstGeom>
          <a:solidFill>
            <a:srgbClr val="EA4B7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5" name="Google Shape;235;p5"/>
          <p:cNvSpPr/>
          <p:nvPr/>
        </p:nvSpPr>
        <p:spPr>
          <a:xfrm>
            <a:off x="7498080" y="1661922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NIVEL 1  ≤ 3.5</a:t>
            </a:r>
            <a:endParaRPr sz="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6" name="Google Shape;236;p5"/>
          <p:cNvSpPr/>
          <p:nvPr/>
        </p:nvSpPr>
        <p:spPr>
          <a:xfrm>
            <a:off x="274320" y="1698498"/>
            <a:ext cx="5029200" cy="39776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7" name="Google Shape;237;p5"/>
          <p:cNvSpPr/>
          <p:nvPr/>
        </p:nvSpPr>
        <p:spPr>
          <a:xfrm>
            <a:off x="411480" y="1771650"/>
            <a:ext cx="4754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EA4B71"/>
                </a:solidFill>
                <a:latin typeface="Calibri"/>
                <a:ea typeface="Calibri"/>
                <a:cs typeface="Calibri"/>
                <a:sym typeface="Calibri"/>
              </a:rPr>
              <a:t>🔄  Descripción del Pipeline N8n</a:t>
            </a:r>
            <a:endParaRPr sz="11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8" name="Google Shape;238;p5"/>
          <p:cNvSpPr/>
          <p:nvPr/>
        </p:nvSpPr>
        <p:spPr>
          <a:xfrm>
            <a:off x="365760" y="2256282"/>
            <a:ext cx="384048" cy="384048"/>
          </a:xfrm>
          <a:prstGeom prst="ellipse">
            <a:avLst/>
          </a:prstGeom>
          <a:solidFill>
            <a:srgbClr val="EA4B7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9" name="Google Shape;239;p5"/>
          <p:cNvSpPr/>
          <p:nvPr/>
        </p:nvSpPr>
        <p:spPr>
          <a:xfrm>
            <a:off x="365760" y="2256282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3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40" name="Google Shape;240;p5"/>
          <p:cNvSpPr/>
          <p:nvPr/>
        </p:nvSpPr>
        <p:spPr>
          <a:xfrm>
            <a:off x="822960" y="2237994"/>
            <a:ext cx="4297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50">
                <a:solidFill>
                  <a:srgbClr val="EA4B71"/>
                </a:solidFill>
                <a:latin typeface="Calibri"/>
                <a:ea typeface="Calibri"/>
                <a:cs typeface="Calibri"/>
                <a:sym typeface="Calibri"/>
              </a:rPr>
              <a:t>TRIGGER / ENTRADA</a:t>
            </a:r>
            <a:endParaRPr sz="9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41" name="Google Shape;241;p5"/>
          <p:cNvSpPr/>
          <p:nvPr/>
        </p:nvSpPr>
        <p:spPr>
          <a:xfrm>
            <a:off x="822960" y="2512314"/>
            <a:ext cx="4297680" cy="621792"/>
          </a:xfrm>
          <a:prstGeom prst="rect">
            <a:avLst/>
          </a:prstGeom>
          <a:solidFill>
            <a:srgbClr val="FAFAFA"/>
          </a:solidFill>
          <a:ln cap="flat" cmpd="sng" w="15225">
            <a:solidFill>
              <a:srgbClr val="C8A41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42" name="Google Shape;242;p5"/>
          <p:cNvSpPr/>
          <p:nvPr/>
        </p:nvSpPr>
        <p:spPr>
          <a:xfrm>
            <a:off x="896112" y="2567178"/>
            <a:ext cx="4151376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90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Tipo de trigger: Webhook, Cron, Manual…</a:t>
            </a:r>
            <a:endParaRPr sz="9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90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Descripción: [complete aquí]</a:t>
            </a:r>
            <a:endParaRPr sz="9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43" name="Google Shape;243;p5"/>
          <p:cNvSpPr/>
          <p:nvPr/>
        </p:nvSpPr>
        <p:spPr>
          <a:xfrm>
            <a:off x="365760" y="3371850"/>
            <a:ext cx="384048" cy="384048"/>
          </a:xfrm>
          <a:prstGeom prst="ellipse">
            <a:avLst/>
          </a:prstGeom>
          <a:solidFill>
            <a:srgbClr val="EA4B7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44" name="Google Shape;244;p5"/>
          <p:cNvSpPr/>
          <p:nvPr/>
        </p:nvSpPr>
        <p:spPr>
          <a:xfrm>
            <a:off x="365760" y="337185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3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45" name="Google Shape;245;p5"/>
          <p:cNvSpPr/>
          <p:nvPr/>
        </p:nvSpPr>
        <p:spPr>
          <a:xfrm>
            <a:off x="822960" y="3353562"/>
            <a:ext cx="4297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50">
                <a:solidFill>
                  <a:srgbClr val="EA4B71"/>
                </a:solidFill>
                <a:latin typeface="Calibri"/>
                <a:ea typeface="Calibri"/>
                <a:cs typeface="Calibri"/>
                <a:sym typeface="Calibri"/>
              </a:rPr>
              <a:t>PROCESAMIENTO</a:t>
            </a:r>
            <a:endParaRPr sz="9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46" name="Google Shape;246;p5"/>
          <p:cNvSpPr/>
          <p:nvPr/>
        </p:nvSpPr>
        <p:spPr>
          <a:xfrm>
            <a:off x="822960" y="3627882"/>
            <a:ext cx="4297680" cy="621792"/>
          </a:xfrm>
          <a:prstGeom prst="rect">
            <a:avLst/>
          </a:prstGeom>
          <a:solidFill>
            <a:srgbClr val="FAFAFA"/>
          </a:solidFill>
          <a:ln cap="flat" cmpd="sng" w="15225">
            <a:solidFill>
              <a:srgbClr val="C8A41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47" name="Google Shape;247;p5"/>
          <p:cNvSpPr/>
          <p:nvPr/>
        </p:nvSpPr>
        <p:spPr>
          <a:xfrm>
            <a:off x="896112" y="3682746"/>
            <a:ext cx="4151376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90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Nodos de lógica, llamadas API, LLM, transformación…</a:t>
            </a:r>
            <a:endParaRPr sz="9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90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Descripción: [complete aquí]</a:t>
            </a:r>
            <a:endParaRPr sz="9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48" name="Google Shape;248;p5"/>
          <p:cNvSpPr/>
          <p:nvPr/>
        </p:nvSpPr>
        <p:spPr>
          <a:xfrm>
            <a:off x="365760" y="4487418"/>
            <a:ext cx="384048" cy="384048"/>
          </a:xfrm>
          <a:prstGeom prst="ellipse">
            <a:avLst/>
          </a:prstGeom>
          <a:solidFill>
            <a:srgbClr val="EA4B7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49" name="Google Shape;249;p5"/>
          <p:cNvSpPr/>
          <p:nvPr/>
        </p:nvSpPr>
        <p:spPr>
          <a:xfrm>
            <a:off x="365760" y="448741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3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50" name="Google Shape;250;p5"/>
          <p:cNvSpPr/>
          <p:nvPr/>
        </p:nvSpPr>
        <p:spPr>
          <a:xfrm>
            <a:off x="822960" y="4469130"/>
            <a:ext cx="4297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50">
                <a:solidFill>
                  <a:srgbClr val="EA4B71"/>
                </a:solidFill>
                <a:latin typeface="Calibri"/>
                <a:ea typeface="Calibri"/>
                <a:cs typeface="Calibri"/>
                <a:sym typeface="Calibri"/>
              </a:rPr>
              <a:t>SALIDA / ACCIÓN</a:t>
            </a:r>
            <a:endParaRPr sz="9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51" name="Google Shape;251;p5"/>
          <p:cNvSpPr/>
          <p:nvPr/>
        </p:nvSpPr>
        <p:spPr>
          <a:xfrm>
            <a:off x="822960" y="4743450"/>
            <a:ext cx="4297680" cy="621792"/>
          </a:xfrm>
          <a:prstGeom prst="rect">
            <a:avLst/>
          </a:prstGeom>
          <a:solidFill>
            <a:srgbClr val="FAFAFA"/>
          </a:solidFill>
          <a:ln cap="flat" cmpd="sng" w="15225">
            <a:solidFill>
              <a:srgbClr val="C8A41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52" name="Google Shape;252;p5"/>
          <p:cNvSpPr/>
          <p:nvPr/>
        </p:nvSpPr>
        <p:spPr>
          <a:xfrm>
            <a:off x="896112" y="4798314"/>
            <a:ext cx="4151376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90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Email, Telegram, base de datos, HTTP Response…</a:t>
            </a:r>
            <a:endParaRPr sz="9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90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Descripción: [complete aquí]</a:t>
            </a:r>
            <a:endParaRPr sz="9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53" name="Google Shape;253;p5"/>
          <p:cNvSpPr/>
          <p:nvPr/>
        </p:nvSpPr>
        <p:spPr>
          <a:xfrm>
            <a:off x="5532120" y="1698498"/>
            <a:ext cx="3337560" cy="21945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54" name="Google Shape;254;p5"/>
          <p:cNvSpPr/>
          <p:nvPr/>
        </p:nvSpPr>
        <p:spPr>
          <a:xfrm>
            <a:off x="5532120" y="1698498"/>
            <a:ext cx="3337560" cy="347472"/>
          </a:xfrm>
          <a:prstGeom prst="rect">
            <a:avLst/>
          </a:prstGeom>
          <a:solidFill>
            <a:srgbClr val="EA4B7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55" name="Google Shape;255;p5"/>
          <p:cNvSpPr/>
          <p:nvPr/>
        </p:nvSpPr>
        <p:spPr>
          <a:xfrm>
            <a:off x="5623560" y="1698498"/>
            <a:ext cx="3154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📸  Captura del Workflow en N8n</a:t>
            </a:r>
            <a:endParaRPr sz="1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56" name="Google Shape;256;p5"/>
          <p:cNvSpPr/>
          <p:nvPr/>
        </p:nvSpPr>
        <p:spPr>
          <a:xfrm>
            <a:off x="5623560" y="2100834"/>
            <a:ext cx="3154680" cy="1664208"/>
          </a:xfrm>
          <a:prstGeom prst="rect">
            <a:avLst/>
          </a:prstGeom>
          <a:solidFill>
            <a:srgbClr val="FAFAFA"/>
          </a:solidFill>
          <a:ln cap="flat" cmpd="sng" w="15225">
            <a:solidFill>
              <a:srgbClr val="C8A41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57" name="Google Shape;257;p5"/>
          <p:cNvSpPr/>
          <p:nvPr/>
        </p:nvSpPr>
        <p:spPr>
          <a:xfrm>
            <a:off x="5696712" y="2155698"/>
            <a:ext cx="3008376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00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[Inserte captura de pantalla del flujo completo en N8n — exportar como imagen PNG]</a:t>
            </a:r>
            <a:endParaRPr sz="1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58" name="Google Shape;258;p5"/>
          <p:cNvSpPr/>
          <p:nvPr/>
        </p:nvSpPr>
        <p:spPr>
          <a:xfrm>
            <a:off x="5532120" y="4039362"/>
            <a:ext cx="3337560" cy="163677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59" name="Google Shape;259;p5"/>
          <p:cNvSpPr/>
          <p:nvPr/>
        </p:nvSpPr>
        <p:spPr>
          <a:xfrm>
            <a:off x="5532120" y="4039362"/>
            <a:ext cx="3337560" cy="347472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60" name="Google Shape;260;p5"/>
          <p:cNvSpPr/>
          <p:nvPr/>
        </p:nvSpPr>
        <p:spPr>
          <a:xfrm>
            <a:off x="5623560" y="4039362"/>
            <a:ext cx="3154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📊  Métricas Generales del Flujo</a:t>
            </a:r>
            <a:endParaRPr sz="1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61" name="Google Shape;261;p5"/>
          <p:cNvSpPr/>
          <p:nvPr/>
        </p:nvSpPr>
        <p:spPr>
          <a:xfrm>
            <a:off x="5669280" y="4469130"/>
            <a:ext cx="310896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9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▸ N.° de nodos activos: ___</a:t>
            </a:r>
            <a:endParaRPr sz="9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62" name="Google Shape;262;p5"/>
          <p:cNvSpPr/>
          <p:nvPr/>
        </p:nvSpPr>
        <p:spPr>
          <a:xfrm>
            <a:off x="5669280" y="4725162"/>
            <a:ext cx="310896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9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▸ Tipo de trigger: ___</a:t>
            </a:r>
            <a:endParaRPr sz="9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63" name="Google Shape;263;p5"/>
          <p:cNvSpPr/>
          <p:nvPr/>
        </p:nvSpPr>
        <p:spPr>
          <a:xfrm>
            <a:off x="5669280" y="4981194"/>
            <a:ext cx="310896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9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▸ Tiempo promedio de ejecución: ___</a:t>
            </a:r>
            <a:endParaRPr sz="9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64" name="Google Shape;264;p5"/>
          <p:cNvSpPr/>
          <p:nvPr/>
        </p:nvSpPr>
        <p:spPr>
          <a:xfrm>
            <a:off x="5669280" y="5237226"/>
            <a:ext cx="310896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9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▸ Tasa de éxito en pruebas: ___ %</a:t>
            </a:r>
            <a:endParaRPr sz="9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6"/>
          <p:cNvSpPr/>
          <p:nvPr/>
        </p:nvSpPr>
        <p:spPr>
          <a:xfrm>
            <a:off x="91440" y="944694"/>
            <a:ext cx="8961120" cy="593208"/>
          </a:xfrm>
          <a:prstGeom prst="rect">
            <a:avLst/>
          </a:prstGeom>
          <a:solidFill>
            <a:srgbClr val="EA4B7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71" name="Google Shape;271;p6"/>
          <p:cNvSpPr/>
          <p:nvPr/>
        </p:nvSpPr>
        <p:spPr>
          <a:xfrm>
            <a:off x="365760" y="944694"/>
            <a:ext cx="8423453" cy="593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  |  N8n — Paso a Paso: Creación del Flujo</a:t>
            </a:r>
            <a:endParaRPr sz="2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72" name="Google Shape;272;p6"/>
          <p:cNvSpPr/>
          <p:nvPr/>
        </p:nvSpPr>
        <p:spPr>
          <a:xfrm>
            <a:off x="7797" y="5932746"/>
            <a:ext cx="9144000" cy="251460"/>
          </a:xfrm>
          <a:prstGeom prst="rect">
            <a:avLst/>
          </a:prstGeom>
          <a:solidFill>
            <a:srgbClr val="C8A41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73" name="Google Shape;273;p6"/>
          <p:cNvSpPr/>
          <p:nvPr/>
        </p:nvSpPr>
        <p:spPr>
          <a:xfrm>
            <a:off x="182880" y="5936733"/>
            <a:ext cx="8778240" cy="2514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003087"/>
                </a:solidFill>
                <a:latin typeface="Calibri"/>
                <a:ea typeface="Calibri"/>
                <a:cs typeface="Calibri"/>
                <a:sym typeface="Calibri"/>
              </a:rPr>
              <a:t>Especialización en Inteligencia Artificial — UNAL Sede Manizales   |   NIVEL 1 — hasta 3.5</a:t>
            </a:r>
            <a:endParaRPr sz="8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74" name="Google Shape;274;p6"/>
          <p:cNvSpPr/>
          <p:nvPr/>
        </p:nvSpPr>
        <p:spPr>
          <a:xfrm>
            <a:off x="7498080" y="1661922"/>
            <a:ext cx="1280160" cy="256032"/>
          </a:xfrm>
          <a:prstGeom prst="rect">
            <a:avLst/>
          </a:prstGeom>
          <a:solidFill>
            <a:srgbClr val="EA4B7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75" name="Google Shape;275;p6"/>
          <p:cNvSpPr/>
          <p:nvPr/>
        </p:nvSpPr>
        <p:spPr>
          <a:xfrm>
            <a:off x="7498080" y="1661922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NIVEL 1  ≤ 3.5</a:t>
            </a:r>
            <a:endParaRPr sz="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76" name="Google Shape;276;p6"/>
          <p:cNvSpPr/>
          <p:nvPr/>
        </p:nvSpPr>
        <p:spPr>
          <a:xfrm>
            <a:off x="274320" y="1680210"/>
            <a:ext cx="4160520" cy="12984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77" name="Google Shape;277;p6"/>
          <p:cNvSpPr/>
          <p:nvPr/>
        </p:nvSpPr>
        <p:spPr>
          <a:xfrm>
            <a:off x="274320" y="1680210"/>
            <a:ext cx="4160520" cy="292608"/>
          </a:xfrm>
          <a:prstGeom prst="rect">
            <a:avLst/>
          </a:prstGeom>
          <a:solidFill>
            <a:srgbClr val="EA4B7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78" name="Google Shape;278;p6"/>
          <p:cNvSpPr/>
          <p:nvPr/>
        </p:nvSpPr>
        <p:spPr>
          <a:xfrm>
            <a:off x="384048" y="2155698"/>
            <a:ext cx="384048" cy="384048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79" name="Google Shape;279;p6"/>
          <p:cNvSpPr/>
          <p:nvPr/>
        </p:nvSpPr>
        <p:spPr>
          <a:xfrm>
            <a:off x="384048" y="215569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3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80" name="Google Shape;280;p6"/>
          <p:cNvSpPr/>
          <p:nvPr/>
        </p:nvSpPr>
        <p:spPr>
          <a:xfrm>
            <a:off x="365760" y="1680210"/>
            <a:ext cx="39776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Paso 1: Instalar / Acceder a N8n</a:t>
            </a:r>
            <a:endParaRPr sz="9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81" name="Google Shape;281;p6"/>
          <p:cNvSpPr/>
          <p:nvPr/>
        </p:nvSpPr>
        <p:spPr>
          <a:xfrm>
            <a:off x="841248" y="2027682"/>
            <a:ext cx="3429000" cy="795528"/>
          </a:xfrm>
          <a:prstGeom prst="rect">
            <a:avLst/>
          </a:prstGeom>
          <a:solidFill>
            <a:srgbClr val="FAFAFA"/>
          </a:solidFill>
          <a:ln cap="flat" cmpd="sng" w="15225">
            <a:solidFill>
              <a:srgbClr val="C8A41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82" name="Google Shape;282;p6"/>
          <p:cNvSpPr/>
          <p:nvPr/>
        </p:nvSpPr>
        <p:spPr>
          <a:xfrm>
            <a:off x="914400" y="2082546"/>
            <a:ext cx="3282696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90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URL de acceso o versión utilizada. Self-hosted / Cloud community.</a:t>
            </a:r>
            <a:endParaRPr sz="9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90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[Complete aquí]</a:t>
            </a:r>
            <a:endParaRPr sz="9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83" name="Google Shape;283;p6"/>
          <p:cNvSpPr/>
          <p:nvPr/>
        </p:nvSpPr>
        <p:spPr>
          <a:xfrm>
            <a:off x="4709160" y="1680210"/>
            <a:ext cx="4160520" cy="12984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84" name="Google Shape;284;p6"/>
          <p:cNvSpPr/>
          <p:nvPr/>
        </p:nvSpPr>
        <p:spPr>
          <a:xfrm>
            <a:off x="4709160" y="1680210"/>
            <a:ext cx="4160520" cy="292608"/>
          </a:xfrm>
          <a:prstGeom prst="rect">
            <a:avLst/>
          </a:prstGeom>
          <a:solidFill>
            <a:srgbClr val="C03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85" name="Google Shape;285;p6"/>
          <p:cNvSpPr/>
          <p:nvPr/>
        </p:nvSpPr>
        <p:spPr>
          <a:xfrm>
            <a:off x="4818888" y="2155698"/>
            <a:ext cx="384048" cy="384048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86" name="Google Shape;286;p6"/>
          <p:cNvSpPr/>
          <p:nvPr/>
        </p:nvSpPr>
        <p:spPr>
          <a:xfrm>
            <a:off x="4818888" y="215569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3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87" name="Google Shape;287;p6"/>
          <p:cNvSpPr/>
          <p:nvPr/>
        </p:nvSpPr>
        <p:spPr>
          <a:xfrm>
            <a:off x="4800600" y="1680210"/>
            <a:ext cx="39776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Paso 2: Crear nuevo Workflow</a:t>
            </a:r>
            <a:endParaRPr sz="9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88" name="Google Shape;288;p6"/>
          <p:cNvSpPr/>
          <p:nvPr/>
        </p:nvSpPr>
        <p:spPr>
          <a:xfrm>
            <a:off x="5276088" y="2027682"/>
            <a:ext cx="3429000" cy="795528"/>
          </a:xfrm>
          <a:prstGeom prst="rect">
            <a:avLst/>
          </a:prstGeom>
          <a:solidFill>
            <a:srgbClr val="FAFAFA"/>
          </a:solidFill>
          <a:ln cap="flat" cmpd="sng" w="15225">
            <a:solidFill>
              <a:srgbClr val="C8A41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89" name="Google Shape;289;p6"/>
          <p:cNvSpPr/>
          <p:nvPr/>
        </p:nvSpPr>
        <p:spPr>
          <a:xfrm>
            <a:off x="5349240" y="2082546"/>
            <a:ext cx="3282696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90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Nombre del workflow, descripción inicial del caso de uso.</a:t>
            </a:r>
            <a:endParaRPr sz="9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90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[Complete aquí]</a:t>
            </a:r>
            <a:endParaRPr sz="9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90" name="Google Shape;290;p6"/>
          <p:cNvSpPr/>
          <p:nvPr/>
        </p:nvSpPr>
        <p:spPr>
          <a:xfrm>
            <a:off x="274320" y="3097530"/>
            <a:ext cx="4160520" cy="12984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91" name="Google Shape;291;p6"/>
          <p:cNvSpPr/>
          <p:nvPr/>
        </p:nvSpPr>
        <p:spPr>
          <a:xfrm>
            <a:off x="274320" y="3097530"/>
            <a:ext cx="4160520" cy="292608"/>
          </a:xfrm>
          <a:prstGeom prst="rect">
            <a:avLst/>
          </a:prstGeom>
          <a:solidFill>
            <a:srgbClr val="EA4B7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92" name="Google Shape;292;p6"/>
          <p:cNvSpPr/>
          <p:nvPr/>
        </p:nvSpPr>
        <p:spPr>
          <a:xfrm>
            <a:off x="384048" y="3573018"/>
            <a:ext cx="384048" cy="384048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93" name="Google Shape;293;p6"/>
          <p:cNvSpPr/>
          <p:nvPr/>
        </p:nvSpPr>
        <p:spPr>
          <a:xfrm>
            <a:off x="384048" y="357301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3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94" name="Google Shape;294;p6"/>
          <p:cNvSpPr/>
          <p:nvPr/>
        </p:nvSpPr>
        <p:spPr>
          <a:xfrm>
            <a:off x="365760" y="3097530"/>
            <a:ext cx="39776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Paso 3: Configurar el Trigger</a:t>
            </a:r>
            <a:endParaRPr sz="9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95" name="Google Shape;295;p6"/>
          <p:cNvSpPr/>
          <p:nvPr/>
        </p:nvSpPr>
        <p:spPr>
          <a:xfrm>
            <a:off x="841248" y="3445002"/>
            <a:ext cx="3429000" cy="795528"/>
          </a:xfrm>
          <a:prstGeom prst="rect">
            <a:avLst/>
          </a:prstGeom>
          <a:solidFill>
            <a:srgbClr val="FAFAFA"/>
          </a:solidFill>
          <a:ln cap="flat" cmpd="sng" w="15225">
            <a:solidFill>
              <a:srgbClr val="C8A41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96" name="Google Shape;296;p6"/>
          <p:cNvSpPr/>
          <p:nvPr/>
        </p:nvSpPr>
        <p:spPr>
          <a:xfrm>
            <a:off x="914400" y="3499866"/>
            <a:ext cx="3282696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90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Tipo de trigger elegido y configuración. Capturas de los parámetros.</a:t>
            </a:r>
            <a:endParaRPr sz="9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90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[Complete aquí]</a:t>
            </a:r>
            <a:endParaRPr sz="9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97" name="Google Shape;297;p6"/>
          <p:cNvSpPr/>
          <p:nvPr/>
        </p:nvSpPr>
        <p:spPr>
          <a:xfrm>
            <a:off x="4709160" y="3097530"/>
            <a:ext cx="4160520" cy="12984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98" name="Google Shape;298;p6"/>
          <p:cNvSpPr/>
          <p:nvPr/>
        </p:nvSpPr>
        <p:spPr>
          <a:xfrm>
            <a:off x="4709160" y="3097530"/>
            <a:ext cx="4160520" cy="292608"/>
          </a:xfrm>
          <a:prstGeom prst="rect">
            <a:avLst/>
          </a:prstGeom>
          <a:solidFill>
            <a:srgbClr val="C03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99" name="Google Shape;299;p6"/>
          <p:cNvSpPr/>
          <p:nvPr/>
        </p:nvSpPr>
        <p:spPr>
          <a:xfrm>
            <a:off x="4818888" y="3573018"/>
            <a:ext cx="384048" cy="384048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00" name="Google Shape;300;p6"/>
          <p:cNvSpPr/>
          <p:nvPr/>
        </p:nvSpPr>
        <p:spPr>
          <a:xfrm>
            <a:off x="4818888" y="357301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3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01" name="Google Shape;301;p6"/>
          <p:cNvSpPr/>
          <p:nvPr/>
        </p:nvSpPr>
        <p:spPr>
          <a:xfrm>
            <a:off x="4800600" y="3097530"/>
            <a:ext cx="39776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Paso 4: Agregar nodos de procesamiento</a:t>
            </a:r>
            <a:endParaRPr sz="9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02" name="Google Shape;302;p6"/>
          <p:cNvSpPr/>
          <p:nvPr/>
        </p:nvSpPr>
        <p:spPr>
          <a:xfrm>
            <a:off x="5276088" y="3445002"/>
            <a:ext cx="3429000" cy="795528"/>
          </a:xfrm>
          <a:prstGeom prst="rect">
            <a:avLst/>
          </a:prstGeom>
          <a:solidFill>
            <a:srgbClr val="FAFAFA"/>
          </a:solidFill>
          <a:ln cap="flat" cmpd="sng" w="15225">
            <a:solidFill>
              <a:srgbClr val="C8A41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03" name="Google Shape;303;p6"/>
          <p:cNvSpPr/>
          <p:nvPr/>
        </p:nvSpPr>
        <p:spPr>
          <a:xfrm>
            <a:off x="5349240" y="3499866"/>
            <a:ext cx="3282696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90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Lista de nodos en orden. Configuración de cada nodo.</a:t>
            </a:r>
            <a:endParaRPr sz="9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90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[Complete aquí]</a:t>
            </a:r>
            <a:endParaRPr sz="9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04" name="Google Shape;304;p6"/>
          <p:cNvSpPr/>
          <p:nvPr/>
        </p:nvSpPr>
        <p:spPr>
          <a:xfrm>
            <a:off x="274320" y="4514850"/>
            <a:ext cx="4160520" cy="12984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05" name="Google Shape;305;p6"/>
          <p:cNvSpPr/>
          <p:nvPr/>
        </p:nvSpPr>
        <p:spPr>
          <a:xfrm>
            <a:off x="274320" y="4514850"/>
            <a:ext cx="4160520" cy="292608"/>
          </a:xfrm>
          <a:prstGeom prst="rect">
            <a:avLst/>
          </a:prstGeom>
          <a:solidFill>
            <a:srgbClr val="EA4B7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06" name="Google Shape;306;p6"/>
          <p:cNvSpPr/>
          <p:nvPr/>
        </p:nvSpPr>
        <p:spPr>
          <a:xfrm>
            <a:off x="384048" y="4990338"/>
            <a:ext cx="384048" cy="384048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07" name="Google Shape;307;p6"/>
          <p:cNvSpPr/>
          <p:nvPr/>
        </p:nvSpPr>
        <p:spPr>
          <a:xfrm>
            <a:off x="384048" y="499033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3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08" name="Google Shape;308;p6"/>
          <p:cNvSpPr/>
          <p:nvPr/>
        </p:nvSpPr>
        <p:spPr>
          <a:xfrm>
            <a:off x="365760" y="4514850"/>
            <a:ext cx="39776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Paso 5: Configurar salida y pruebas</a:t>
            </a:r>
            <a:endParaRPr sz="9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09" name="Google Shape;309;p6"/>
          <p:cNvSpPr/>
          <p:nvPr/>
        </p:nvSpPr>
        <p:spPr>
          <a:xfrm>
            <a:off x="841248" y="4862322"/>
            <a:ext cx="3429000" cy="795528"/>
          </a:xfrm>
          <a:prstGeom prst="rect">
            <a:avLst/>
          </a:prstGeom>
          <a:solidFill>
            <a:srgbClr val="FAFAFA"/>
          </a:solidFill>
          <a:ln cap="flat" cmpd="sng" w="15225">
            <a:solidFill>
              <a:srgbClr val="C8A41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10" name="Google Shape;310;p6"/>
          <p:cNvSpPr/>
          <p:nvPr/>
        </p:nvSpPr>
        <p:spPr>
          <a:xfrm>
            <a:off x="914400" y="4917186"/>
            <a:ext cx="3282696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90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Tipo de salida. Resultado esperado. Prueba de ejecución manual.</a:t>
            </a:r>
            <a:endParaRPr sz="9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90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[Complete aquí]</a:t>
            </a:r>
            <a:endParaRPr sz="9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11" name="Google Shape;311;p6"/>
          <p:cNvSpPr/>
          <p:nvPr/>
        </p:nvSpPr>
        <p:spPr>
          <a:xfrm>
            <a:off x="4709160" y="4514850"/>
            <a:ext cx="4160520" cy="12984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12" name="Google Shape;312;p6"/>
          <p:cNvSpPr/>
          <p:nvPr/>
        </p:nvSpPr>
        <p:spPr>
          <a:xfrm>
            <a:off x="4709160" y="4514850"/>
            <a:ext cx="4160520" cy="292608"/>
          </a:xfrm>
          <a:prstGeom prst="rect">
            <a:avLst/>
          </a:prstGeom>
          <a:solidFill>
            <a:srgbClr val="C03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13" name="Google Shape;313;p6"/>
          <p:cNvSpPr/>
          <p:nvPr/>
        </p:nvSpPr>
        <p:spPr>
          <a:xfrm>
            <a:off x="4818888" y="4990338"/>
            <a:ext cx="384048" cy="384048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14" name="Google Shape;314;p6"/>
          <p:cNvSpPr/>
          <p:nvPr/>
        </p:nvSpPr>
        <p:spPr>
          <a:xfrm>
            <a:off x="4818888" y="499033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3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15" name="Google Shape;315;p6"/>
          <p:cNvSpPr/>
          <p:nvPr/>
        </p:nvSpPr>
        <p:spPr>
          <a:xfrm>
            <a:off x="4800600" y="4514850"/>
            <a:ext cx="39776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Paso 6: Activar y monitorear el flujo</a:t>
            </a:r>
            <a:endParaRPr sz="9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16" name="Google Shape;316;p6"/>
          <p:cNvSpPr/>
          <p:nvPr/>
        </p:nvSpPr>
        <p:spPr>
          <a:xfrm>
            <a:off x="5276088" y="4862322"/>
            <a:ext cx="3429000" cy="795528"/>
          </a:xfrm>
          <a:prstGeom prst="rect">
            <a:avLst/>
          </a:prstGeom>
          <a:solidFill>
            <a:srgbClr val="FAFAFA"/>
          </a:solidFill>
          <a:ln cap="flat" cmpd="sng" w="15225">
            <a:solidFill>
              <a:srgbClr val="C8A41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17" name="Google Shape;317;p6"/>
          <p:cNvSpPr/>
          <p:nvPr/>
        </p:nvSpPr>
        <p:spPr>
          <a:xfrm>
            <a:off x="5349240" y="4917186"/>
            <a:ext cx="3282696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90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Estado del workflow activo. Cómo se verificó el funcionamiento.</a:t>
            </a:r>
            <a:endParaRPr sz="9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90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[Complete aquí]</a:t>
            </a:r>
            <a:endParaRPr sz="9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7"/>
          <p:cNvSpPr/>
          <p:nvPr/>
        </p:nvSpPr>
        <p:spPr>
          <a:xfrm>
            <a:off x="182880" y="1040130"/>
            <a:ext cx="8961120" cy="502920"/>
          </a:xfrm>
          <a:prstGeom prst="rect">
            <a:avLst/>
          </a:prstGeom>
          <a:solidFill>
            <a:srgbClr val="EA4B7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24" name="Google Shape;324;p7"/>
          <p:cNvSpPr/>
          <p:nvPr/>
        </p:nvSpPr>
        <p:spPr>
          <a:xfrm>
            <a:off x="457200" y="1040130"/>
            <a:ext cx="8423453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  |  N8n — Video de Demostración y JSON del Flujo</a:t>
            </a:r>
            <a:endParaRPr sz="2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25" name="Google Shape;325;p7"/>
          <p:cNvSpPr/>
          <p:nvPr/>
        </p:nvSpPr>
        <p:spPr>
          <a:xfrm>
            <a:off x="0" y="5749290"/>
            <a:ext cx="9144000" cy="251460"/>
          </a:xfrm>
          <a:prstGeom prst="rect">
            <a:avLst/>
          </a:prstGeom>
          <a:solidFill>
            <a:srgbClr val="C8A41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26" name="Google Shape;326;p7"/>
          <p:cNvSpPr/>
          <p:nvPr/>
        </p:nvSpPr>
        <p:spPr>
          <a:xfrm>
            <a:off x="182880" y="5749290"/>
            <a:ext cx="8778240" cy="2514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003087"/>
                </a:solidFill>
                <a:latin typeface="Calibri"/>
                <a:ea typeface="Calibri"/>
                <a:cs typeface="Calibri"/>
                <a:sym typeface="Calibri"/>
              </a:rPr>
              <a:t>Maestría en Inteligencia Artificial — UNAL Sede Manizales   |   NIVEL 1 — hasta 3.5</a:t>
            </a:r>
            <a:endParaRPr sz="8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27" name="Google Shape;327;p7"/>
          <p:cNvSpPr/>
          <p:nvPr/>
        </p:nvSpPr>
        <p:spPr>
          <a:xfrm>
            <a:off x="7498080" y="1661922"/>
            <a:ext cx="1280160" cy="256032"/>
          </a:xfrm>
          <a:prstGeom prst="rect">
            <a:avLst/>
          </a:prstGeom>
          <a:solidFill>
            <a:srgbClr val="EA4B7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28" name="Google Shape;328;p7"/>
          <p:cNvSpPr/>
          <p:nvPr/>
        </p:nvSpPr>
        <p:spPr>
          <a:xfrm>
            <a:off x="7498080" y="1661922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NIVEL 1  ≤ 3.5</a:t>
            </a:r>
            <a:endParaRPr sz="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29" name="Google Shape;329;p7"/>
          <p:cNvSpPr/>
          <p:nvPr/>
        </p:nvSpPr>
        <p:spPr>
          <a:xfrm>
            <a:off x="274320" y="1698498"/>
            <a:ext cx="4206240" cy="30175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30" name="Google Shape;330;p7"/>
          <p:cNvSpPr/>
          <p:nvPr/>
        </p:nvSpPr>
        <p:spPr>
          <a:xfrm>
            <a:off x="274320" y="1698498"/>
            <a:ext cx="4206240" cy="384048"/>
          </a:xfrm>
          <a:prstGeom prst="rect">
            <a:avLst/>
          </a:prstGeom>
          <a:solidFill>
            <a:srgbClr val="EA4B7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31" name="Google Shape;331;p7"/>
          <p:cNvSpPr/>
          <p:nvPr/>
        </p:nvSpPr>
        <p:spPr>
          <a:xfrm>
            <a:off x="365760" y="1698498"/>
            <a:ext cx="4023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🎬  Video: Creación y Ejecución del Flujo</a:t>
            </a:r>
            <a:endParaRPr sz="10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32" name="Google Shape;332;p7"/>
          <p:cNvSpPr/>
          <p:nvPr/>
        </p:nvSpPr>
        <p:spPr>
          <a:xfrm>
            <a:off x="365760" y="2155698"/>
            <a:ext cx="4023360" cy="150876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33" name="Google Shape;333;p7"/>
          <p:cNvSpPr/>
          <p:nvPr/>
        </p:nvSpPr>
        <p:spPr>
          <a:xfrm>
            <a:off x="365760" y="2155698"/>
            <a:ext cx="402336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EA4B7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▶</a:t>
            </a:r>
            <a:endParaRPr sz="4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34" name="Google Shape;334;p7"/>
          <p:cNvSpPr/>
          <p:nvPr/>
        </p:nvSpPr>
        <p:spPr>
          <a:xfrm>
            <a:off x="365760" y="2155698"/>
            <a:ext cx="402336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850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(Insertar miniatura del video o pantallazos clave)</a:t>
            </a:r>
            <a:endParaRPr sz="8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35" name="Google Shape;335;p7"/>
          <p:cNvSpPr/>
          <p:nvPr/>
        </p:nvSpPr>
        <p:spPr>
          <a:xfrm>
            <a:off x="411480" y="3737610"/>
            <a:ext cx="3931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50">
                <a:solidFill>
                  <a:srgbClr val="EA4B71"/>
                </a:solidFill>
                <a:latin typeface="Calibri"/>
                <a:ea typeface="Calibri"/>
                <a:cs typeface="Calibri"/>
                <a:sym typeface="Calibri"/>
              </a:rPr>
              <a:t>Requisitos del video:</a:t>
            </a:r>
            <a:endParaRPr sz="9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36" name="Google Shape;336;p7"/>
          <p:cNvSpPr/>
          <p:nvPr/>
        </p:nvSpPr>
        <p:spPr>
          <a:xfrm>
            <a:off x="457200" y="3984498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✓  Duración: 3 – 8 minutos</a:t>
            </a:r>
            <a:endParaRPr sz="9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37" name="Google Shape;337;p7"/>
          <p:cNvSpPr/>
          <p:nvPr/>
        </p:nvSpPr>
        <p:spPr>
          <a:xfrm>
            <a:off x="457200" y="4185666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✓  Mostrar creación del workflow completo</a:t>
            </a:r>
            <a:endParaRPr sz="9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38" name="Google Shape;338;p7"/>
          <p:cNvSpPr/>
          <p:nvPr/>
        </p:nvSpPr>
        <p:spPr>
          <a:xfrm>
            <a:off x="457200" y="4386834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✓  Demostrar ejecución en tiempo real</a:t>
            </a:r>
            <a:endParaRPr sz="9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39" name="Google Shape;339;p7"/>
          <p:cNvSpPr/>
          <p:nvPr/>
        </p:nvSpPr>
        <p:spPr>
          <a:xfrm>
            <a:off x="457200" y="4588002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✓  Narración explicando cada nodo</a:t>
            </a:r>
            <a:endParaRPr sz="9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40" name="Google Shape;340;p7"/>
          <p:cNvSpPr/>
          <p:nvPr/>
        </p:nvSpPr>
        <p:spPr>
          <a:xfrm>
            <a:off x="457200" y="4789170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✓  Subir a YouTube / Drive e insertar enlace</a:t>
            </a:r>
            <a:endParaRPr sz="9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41" name="Google Shape;341;p7"/>
          <p:cNvSpPr/>
          <p:nvPr/>
        </p:nvSpPr>
        <p:spPr>
          <a:xfrm>
            <a:off x="365760" y="5017770"/>
            <a:ext cx="4023360" cy="530352"/>
          </a:xfrm>
          <a:prstGeom prst="rect">
            <a:avLst/>
          </a:prstGeom>
          <a:solidFill>
            <a:srgbClr val="FAFAFA"/>
          </a:solidFill>
          <a:ln cap="flat" cmpd="sng" w="15225">
            <a:solidFill>
              <a:srgbClr val="C8A41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42" name="Google Shape;342;p7"/>
          <p:cNvSpPr/>
          <p:nvPr/>
        </p:nvSpPr>
        <p:spPr>
          <a:xfrm>
            <a:off x="438912" y="5072634"/>
            <a:ext cx="3877056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00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🔗  URL del video: [Pegar enlace aquí]</a:t>
            </a:r>
            <a:endParaRPr sz="1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43" name="Google Shape;343;p7"/>
          <p:cNvSpPr/>
          <p:nvPr/>
        </p:nvSpPr>
        <p:spPr>
          <a:xfrm>
            <a:off x="4754880" y="1698498"/>
            <a:ext cx="4114800" cy="39776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44" name="Google Shape;344;p7"/>
          <p:cNvSpPr/>
          <p:nvPr/>
        </p:nvSpPr>
        <p:spPr>
          <a:xfrm>
            <a:off x="4754880" y="1698498"/>
            <a:ext cx="4114800" cy="384048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45" name="Google Shape;345;p7"/>
          <p:cNvSpPr/>
          <p:nvPr/>
        </p:nvSpPr>
        <p:spPr>
          <a:xfrm>
            <a:off x="4846320" y="1698498"/>
            <a:ext cx="3931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EA4B71"/>
                </a:solidFill>
                <a:latin typeface="Calibri"/>
                <a:ea typeface="Calibri"/>
                <a:cs typeface="Calibri"/>
                <a:sym typeface="Calibri"/>
              </a:rPr>
              <a:t>{ }  JSON del Flujo N8n</a:t>
            </a:r>
            <a:endParaRPr sz="10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46" name="Google Shape;346;p7"/>
          <p:cNvSpPr/>
          <p:nvPr/>
        </p:nvSpPr>
        <p:spPr>
          <a:xfrm>
            <a:off x="4846320" y="2137410"/>
            <a:ext cx="3931920" cy="2560320"/>
          </a:xfrm>
          <a:prstGeom prst="rect">
            <a:avLst/>
          </a:prstGeom>
          <a:solidFill>
            <a:srgbClr val="1E1E1E"/>
          </a:solidFill>
          <a:ln cap="flat" cmpd="sng" w="10150">
            <a:solidFill>
              <a:srgbClr val="EA4B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47" name="Google Shape;347;p7"/>
          <p:cNvSpPr/>
          <p:nvPr/>
        </p:nvSpPr>
        <p:spPr>
          <a:xfrm>
            <a:off x="4937760" y="2228850"/>
            <a:ext cx="374904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850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rPr>
              <a:t>// Pegue aquí el JSON exportado de N8n</a:t>
            </a:r>
            <a:br>
              <a:rPr i="1" lang="en-US" sz="850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85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br>
              <a:rPr lang="en-US" sz="85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85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  "name"</a:t>
            </a:r>
            <a:r>
              <a:rPr lang="en-US" sz="85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-US" sz="85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"Nombre del workflow",</a:t>
            </a:r>
            <a:br>
              <a:rPr lang="en-US" sz="85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85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  "nodes"</a:t>
            </a:r>
            <a:r>
              <a:rPr lang="en-US" sz="85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: [ ... ],</a:t>
            </a:r>
            <a:br>
              <a:rPr lang="en-US" sz="85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85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  "connections"</a:t>
            </a:r>
            <a:r>
              <a:rPr lang="en-US" sz="85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: { ... }</a:t>
            </a:r>
            <a:br>
              <a:rPr lang="en-US" sz="85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85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8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48" name="Google Shape;348;p7"/>
          <p:cNvSpPr/>
          <p:nvPr/>
        </p:nvSpPr>
        <p:spPr>
          <a:xfrm>
            <a:off x="4846320" y="4770882"/>
            <a:ext cx="3840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5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Instrucciones de exportación:</a:t>
            </a:r>
            <a:endParaRPr sz="9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49" name="Google Shape;349;p7"/>
          <p:cNvSpPr/>
          <p:nvPr/>
        </p:nvSpPr>
        <p:spPr>
          <a:xfrm>
            <a:off x="4846320" y="5017770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850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→  N8n → Menú ⋮ → Download → JSON</a:t>
            </a:r>
            <a:endParaRPr sz="8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50" name="Google Shape;350;p7"/>
          <p:cNvSpPr/>
          <p:nvPr/>
        </p:nvSpPr>
        <p:spPr>
          <a:xfrm>
            <a:off x="4846320" y="5228082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850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→  Adjuntar archivo en el repositorio Git</a:t>
            </a:r>
            <a:endParaRPr sz="8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51" name="Google Shape;351;p7"/>
          <p:cNvSpPr/>
          <p:nvPr/>
        </p:nvSpPr>
        <p:spPr>
          <a:xfrm>
            <a:off x="4846320" y="5438394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850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→  Ruta sugerida: /workflow/flujo_principal.json</a:t>
            </a:r>
            <a:endParaRPr sz="8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8"/>
          <p:cNvSpPr/>
          <p:nvPr/>
        </p:nvSpPr>
        <p:spPr>
          <a:xfrm>
            <a:off x="60251" y="1026882"/>
            <a:ext cx="9023498" cy="529413"/>
          </a:xfrm>
          <a:prstGeom prst="rect">
            <a:avLst/>
          </a:prstGeom>
          <a:solidFill>
            <a:srgbClr val="27A99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58" name="Google Shape;358;p8"/>
          <p:cNvSpPr/>
          <p:nvPr/>
        </p:nvSpPr>
        <p:spPr>
          <a:xfrm>
            <a:off x="334571" y="1026882"/>
            <a:ext cx="8482088" cy="5294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06  |  LangChain — Arquitectura del Sistema</a:t>
            </a:r>
            <a:endParaRPr sz="2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59" name="Google Shape;359;p8"/>
          <p:cNvSpPr/>
          <p:nvPr/>
        </p:nvSpPr>
        <p:spPr>
          <a:xfrm>
            <a:off x="60251" y="6270498"/>
            <a:ext cx="9144000" cy="251460"/>
          </a:xfrm>
          <a:prstGeom prst="rect">
            <a:avLst/>
          </a:prstGeom>
          <a:solidFill>
            <a:srgbClr val="C8A41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60" name="Google Shape;360;p8"/>
          <p:cNvSpPr/>
          <p:nvPr/>
        </p:nvSpPr>
        <p:spPr>
          <a:xfrm>
            <a:off x="182880" y="6270498"/>
            <a:ext cx="8778240" cy="2514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003087"/>
                </a:solidFill>
                <a:latin typeface="Calibri"/>
                <a:ea typeface="Calibri"/>
                <a:cs typeface="Calibri"/>
                <a:sym typeface="Calibri"/>
              </a:rPr>
              <a:t>Especialización en Inteligencia Artificial — UNAL Sede Manizales   |   NIVEL 2 — hasta 4.5</a:t>
            </a:r>
            <a:endParaRPr sz="8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61" name="Google Shape;361;p8"/>
          <p:cNvSpPr/>
          <p:nvPr/>
        </p:nvSpPr>
        <p:spPr>
          <a:xfrm>
            <a:off x="7498080" y="1661922"/>
            <a:ext cx="1280160" cy="256032"/>
          </a:xfrm>
          <a:prstGeom prst="rect">
            <a:avLst/>
          </a:prstGeom>
          <a:solidFill>
            <a:srgbClr val="27A99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62" name="Google Shape;362;p8"/>
          <p:cNvSpPr/>
          <p:nvPr/>
        </p:nvSpPr>
        <p:spPr>
          <a:xfrm>
            <a:off x="7498080" y="1661922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NIVEL 2  ≤ 4.5</a:t>
            </a:r>
            <a:endParaRPr sz="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63" name="Google Shape;363;p8"/>
          <p:cNvSpPr/>
          <p:nvPr/>
        </p:nvSpPr>
        <p:spPr>
          <a:xfrm>
            <a:off x="274320" y="1634490"/>
            <a:ext cx="8595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27A99E"/>
                </a:solidFill>
                <a:latin typeface="Calibri"/>
                <a:ea typeface="Calibri"/>
                <a:cs typeface="Calibri"/>
                <a:sym typeface="Calibri"/>
              </a:rPr>
              <a:t>Componentes Principales de la Implementación</a:t>
            </a:r>
            <a:endParaRPr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64" name="Google Shape;364;p8"/>
          <p:cNvSpPr/>
          <p:nvPr/>
        </p:nvSpPr>
        <p:spPr>
          <a:xfrm>
            <a:off x="274320" y="2064258"/>
            <a:ext cx="4160520" cy="1719072"/>
          </a:xfrm>
          <a:prstGeom prst="rect">
            <a:avLst/>
          </a:prstGeom>
          <a:solidFill>
            <a:srgbClr val="1A4A6E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65" name="Google Shape;365;p8"/>
          <p:cNvSpPr/>
          <p:nvPr/>
        </p:nvSpPr>
        <p:spPr>
          <a:xfrm>
            <a:off x="274320" y="2064258"/>
            <a:ext cx="4160520" cy="365760"/>
          </a:xfrm>
          <a:prstGeom prst="rect">
            <a:avLst/>
          </a:prstGeom>
          <a:solidFill>
            <a:srgbClr val="27A99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66" name="Google Shape;366;p8"/>
          <p:cNvSpPr/>
          <p:nvPr/>
        </p:nvSpPr>
        <p:spPr>
          <a:xfrm>
            <a:off x="365760" y="2064258"/>
            <a:ext cx="3977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🧠  LLM — Modelo de Lenguaje</a:t>
            </a:r>
            <a:endParaRPr sz="1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67" name="Google Shape;367;p8"/>
          <p:cNvSpPr/>
          <p:nvPr/>
        </p:nvSpPr>
        <p:spPr>
          <a:xfrm>
            <a:off x="365760" y="2484882"/>
            <a:ext cx="3977640" cy="1207008"/>
          </a:xfrm>
          <a:prstGeom prst="rect">
            <a:avLst/>
          </a:prstGeom>
          <a:solidFill>
            <a:srgbClr val="FAFAFA"/>
          </a:solidFill>
          <a:ln cap="flat" cmpd="sng" w="15225">
            <a:solidFill>
              <a:srgbClr val="C8A41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68" name="Google Shape;368;p8"/>
          <p:cNvSpPr/>
          <p:nvPr/>
        </p:nvSpPr>
        <p:spPr>
          <a:xfrm>
            <a:off x="438912" y="2539746"/>
            <a:ext cx="3831336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85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Modelo utilizado:</a:t>
            </a:r>
            <a:endParaRPr sz="8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85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□ GPT-4o  □ Claude 3  □ Llama 3</a:t>
            </a:r>
            <a:endParaRPr sz="8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85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□ Gemini  □ Otro: ___</a:t>
            </a:r>
            <a:endParaRPr sz="8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85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Configuración (temperatura, max_tokens):</a:t>
            </a:r>
            <a:endParaRPr sz="8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85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[Complete aquí]</a:t>
            </a:r>
            <a:endParaRPr sz="8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69" name="Google Shape;369;p8"/>
          <p:cNvSpPr/>
          <p:nvPr/>
        </p:nvSpPr>
        <p:spPr>
          <a:xfrm>
            <a:off x="4709160" y="2064258"/>
            <a:ext cx="4160520" cy="1719072"/>
          </a:xfrm>
          <a:prstGeom prst="rect">
            <a:avLst/>
          </a:prstGeom>
          <a:solidFill>
            <a:srgbClr val="1A3A5E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70" name="Google Shape;370;p8"/>
          <p:cNvSpPr/>
          <p:nvPr/>
        </p:nvSpPr>
        <p:spPr>
          <a:xfrm>
            <a:off x="4709160" y="2064258"/>
            <a:ext cx="4160520" cy="365760"/>
          </a:xfrm>
          <a:prstGeom prst="rect">
            <a:avLst/>
          </a:prstGeom>
          <a:solidFill>
            <a:srgbClr val="27A99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71" name="Google Shape;371;p8"/>
          <p:cNvSpPr/>
          <p:nvPr/>
        </p:nvSpPr>
        <p:spPr>
          <a:xfrm>
            <a:off x="4800600" y="2064258"/>
            <a:ext cx="3977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💬  ChatPromptTemplate — Plantilla de Prompts</a:t>
            </a:r>
            <a:endParaRPr sz="1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72" name="Google Shape;372;p8"/>
          <p:cNvSpPr/>
          <p:nvPr/>
        </p:nvSpPr>
        <p:spPr>
          <a:xfrm>
            <a:off x="4800600" y="2484882"/>
            <a:ext cx="3977640" cy="1207008"/>
          </a:xfrm>
          <a:prstGeom prst="rect">
            <a:avLst/>
          </a:prstGeom>
          <a:solidFill>
            <a:srgbClr val="FAFAFA"/>
          </a:solidFill>
          <a:ln cap="flat" cmpd="sng" w="15225">
            <a:solidFill>
              <a:srgbClr val="C8A41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73" name="Google Shape;373;p8"/>
          <p:cNvSpPr/>
          <p:nvPr/>
        </p:nvSpPr>
        <p:spPr>
          <a:xfrm>
            <a:off x="4873752" y="2539746"/>
            <a:ext cx="3831336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85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Estructura del prompt:</a:t>
            </a:r>
            <a:endParaRPr sz="8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85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• System message: [complete]</a:t>
            </a:r>
            <a:endParaRPr sz="8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85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• Human template: [complete]</a:t>
            </a:r>
            <a:endParaRPr sz="8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85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• Variables de entrada: [complete]</a:t>
            </a:r>
            <a:endParaRPr sz="8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85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Ejemplo de uso en código:</a:t>
            </a:r>
            <a:endParaRPr sz="8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85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[Complete aquí]</a:t>
            </a:r>
            <a:endParaRPr sz="8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74" name="Google Shape;374;p8"/>
          <p:cNvSpPr/>
          <p:nvPr/>
        </p:nvSpPr>
        <p:spPr>
          <a:xfrm>
            <a:off x="274320" y="3938778"/>
            <a:ext cx="4160520" cy="1719072"/>
          </a:xfrm>
          <a:prstGeom prst="rect">
            <a:avLst/>
          </a:prstGeom>
          <a:solidFill>
            <a:srgbClr val="0E4D4D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75" name="Google Shape;375;p8"/>
          <p:cNvSpPr/>
          <p:nvPr/>
        </p:nvSpPr>
        <p:spPr>
          <a:xfrm>
            <a:off x="274320" y="3938778"/>
            <a:ext cx="4160520" cy="365760"/>
          </a:xfrm>
          <a:prstGeom prst="rect">
            <a:avLst/>
          </a:prstGeom>
          <a:solidFill>
            <a:srgbClr val="27A99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76" name="Google Shape;376;p8"/>
          <p:cNvSpPr/>
          <p:nvPr/>
        </p:nvSpPr>
        <p:spPr>
          <a:xfrm>
            <a:off x="365760" y="3938778"/>
            <a:ext cx="3977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🔧  Tools — Herramientas del Agente</a:t>
            </a:r>
            <a:endParaRPr sz="1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77" name="Google Shape;377;p8"/>
          <p:cNvSpPr/>
          <p:nvPr/>
        </p:nvSpPr>
        <p:spPr>
          <a:xfrm>
            <a:off x="365760" y="4359402"/>
            <a:ext cx="3977640" cy="1207008"/>
          </a:xfrm>
          <a:prstGeom prst="rect">
            <a:avLst/>
          </a:prstGeom>
          <a:solidFill>
            <a:srgbClr val="FAFAFA"/>
          </a:solidFill>
          <a:ln cap="flat" cmpd="sng" w="15225">
            <a:solidFill>
              <a:srgbClr val="C8A41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78" name="Google Shape;378;p8"/>
          <p:cNvSpPr/>
          <p:nvPr/>
        </p:nvSpPr>
        <p:spPr>
          <a:xfrm>
            <a:off x="438912" y="4414266"/>
            <a:ext cx="3831336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85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Herramientas implementadas:</a:t>
            </a:r>
            <a:endParaRPr sz="8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85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□ Búsqueda web  □ Base de datos</a:t>
            </a:r>
            <a:endParaRPr sz="8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85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□ API externa   □ Calculadora</a:t>
            </a:r>
            <a:endParaRPr sz="8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85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□ Custom tool: ___</a:t>
            </a:r>
            <a:endParaRPr sz="8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85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Justificación de elección:</a:t>
            </a:r>
            <a:endParaRPr sz="8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85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[Complete aquí]</a:t>
            </a:r>
            <a:endParaRPr sz="8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79" name="Google Shape;379;p8"/>
          <p:cNvSpPr/>
          <p:nvPr/>
        </p:nvSpPr>
        <p:spPr>
          <a:xfrm>
            <a:off x="4709160" y="3938778"/>
            <a:ext cx="4160520" cy="1719072"/>
          </a:xfrm>
          <a:prstGeom prst="rect">
            <a:avLst/>
          </a:prstGeom>
          <a:solidFill>
            <a:srgbClr val="3D1A6E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80" name="Google Shape;380;p8"/>
          <p:cNvSpPr/>
          <p:nvPr/>
        </p:nvSpPr>
        <p:spPr>
          <a:xfrm>
            <a:off x="4709160" y="3938778"/>
            <a:ext cx="4160520" cy="365760"/>
          </a:xfrm>
          <a:prstGeom prst="rect">
            <a:avLst/>
          </a:prstGeom>
          <a:solidFill>
            <a:srgbClr val="27A99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81" name="Google Shape;381;p8"/>
          <p:cNvSpPr/>
          <p:nvPr/>
        </p:nvSpPr>
        <p:spPr>
          <a:xfrm>
            <a:off x="4800600" y="3938778"/>
            <a:ext cx="3977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🔗  Chain / Agent — Cadena de Razonamiento</a:t>
            </a:r>
            <a:endParaRPr sz="1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82" name="Google Shape;382;p8"/>
          <p:cNvSpPr/>
          <p:nvPr/>
        </p:nvSpPr>
        <p:spPr>
          <a:xfrm>
            <a:off x="4800600" y="4359402"/>
            <a:ext cx="3977640" cy="1207008"/>
          </a:xfrm>
          <a:prstGeom prst="rect">
            <a:avLst/>
          </a:prstGeom>
          <a:solidFill>
            <a:srgbClr val="FAFAFA"/>
          </a:solidFill>
          <a:ln cap="flat" cmpd="sng" w="15225">
            <a:solidFill>
              <a:srgbClr val="C8A41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83" name="Google Shape;383;p8"/>
          <p:cNvSpPr/>
          <p:nvPr/>
        </p:nvSpPr>
        <p:spPr>
          <a:xfrm>
            <a:off x="4873752" y="4414266"/>
            <a:ext cx="3831336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85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Tipo de cadena:</a:t>
            </a:r>
            <a:endParaRPr sz="8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85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□ LLMChain  □ SequentialChain</a:t>
            </a:r>
            <a:endParaRPr sz="8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85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□ AgentExecutor  □ LCEL</a:t>
            </a:r>
            <a:endParaRPr sz="8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85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Descripción del flujo de razonamiento:</a:t>
            </a:r>
            <a:endParaRPr sz="8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85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[Complete aquí]</a:t>
            </a:r>
            <a:endParaRPr sz="8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9"/>
          <p:cNvSpPr/>
          <p:nvPr/>
        </p:nvSpPr>
        <p:spPr>
          <a:xfrm>
            <a:off x="0" y="956930"/>
            <a:ext cx="8961120" cy="586120"/>
          </a:xfrm>
          <a:prstGeom prst="rect">
            <a:avLst/>
          </a:prstGeom>
          <a:solidFill>
            <a:srgbClr val="1C3D5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90" name="Google Shape;390;p9"/>
          <p:cNvSpPr/>
          <p:nvPr/>
        </p:nvSpPr>
        <p:spPr>
          <a:xfrm>
            <a:off x="274320" y="956930"/>
            <a:ext cx="8423453" cy="586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07  |  LangChain — Código, Chain of Thought y Persistencia (RAG)</a:t>
            </a:r>
            <a:endParaRPr sz="2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91" name="Google Shape;391;p9"/>
          <p:cNvSpPr/>
          <p:nvPr/>
        </p:nvSpPr>
        <p:spPr>
          <a:xfrm>
            <a:off x="0" y="6377940"/>
            <a:ext cx="9144000" cy="251460"/>
          </a:xfrm>
          <a:prstGeom prst="rect">
            <a:avLst/>
          </a:prstGeom>
          <a:solidFill>
            <a:srgbClr val="C8A41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92" name="Google Shape;392;p9"/>
          <p:cNvSpPr/>
          <p:nvPr/>
        </p:nvSpPr>
        <p:spPr>
          <a:xfrm>
            <a:off x="182880" y="6377940"/>
            <a:ext cx="8778240" cy="2514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003087"/>
                </a:solidFill>
                <a:latin typeface="Calibri"/>
                <a:ea typeface="Calibri"/>
                <a:cs typeface="Calibri"/>
                <a:sym typeface="Calibri"/>
              </a:rPr>
              <a:t>Espdcialización en Inteligencia Artificial — UNAL Sede Manizales   |   NIVEL 2 — hasta 4.5</a:t>
            </a:r>
            <a:endParaRPr sz="8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93" name="Google Shape;393;p9"/>
          <p:cNvSpPr/>
          <p:nvPr/>
        </p:nvSpPr>
        <p:spPr>
          <a:xfrm>
            <a:off x="7498080" y="1661922"/>
            <a:ext cx="1280160" cy="256032"/>
          </a:xfrm>
          <a:prstGeom prst="rect">
            <a:avLst/>
          </a:prstGeom>
          <a:solidFill>
            <a:srgbClr val="27A99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94" name="Google Shape;394;p9"/>
          <p:cNvSpPr/>
          <p:nvPr/>
        </p:nvSpPr>
        <p:spPr>
          <a:xfrm>
            <a:off x="7498080" y="1661922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NIVEL 2  ≤ 4.5</a:t>
            </a:r>
            <a:endParaRPr sz="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95" name="Google Shape;395;p9"/>
          <p:cNvSpPr/>
          <p:nvPr/>
        </p:nvSpPr>
        <p:spPr>
          <a:xfrm>
            <a:off x="274320" y="1661922"/>
            <a:ext cx="4846320" cy="4005072"/>
          </a:xfrm>
          <a:prstGeom prst="rect">
            <a:avLst/>
          </a:prstGeom>
          <a:solidFill>
            <a:srgbClr val="1E1E1E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96" name="Google Shape;396;p9"/>
          <p:cNvSpPr/>
          <p:nvPr/>
        </p:nvSpPr>
        <p:spPr>
          <a:xfrm>
            <a:off x="274320" y="1661922"/>
            <a:ext cx="4846320" cy="292608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97" name="Google Shape;397;p9"/>
          <p:cNvSpPr/>
          <p:nvPr/>
        </p:nvSpPr>
        <p:spPr>
          <a:xfrm>
            <a:off x="365760" y="1661922"/>
            <a:ext cx="4663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🐍  Fragmento de Código — LangChain</a:t>
            </a:r>
            <a:endParaRPr sz="9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98" name="Google Shape;398;p9"/>
          <p:cNvSpPr/>
          <p:nvPr/>
        </p:nvSpPr>
        <p:spPr>
          <a:xfrm>
            <a:off x="365760" y="2000250"/>
            <a:ext cx="466344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C586C0"/>
                </a:solidFill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en-US" sz="8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langchain_core.prompts </a:t>
            </a:r>
            <a:r>
              <a:rPr lang="en-US" sz="800">
                <a:solidFill>
                  <a:srgbClr val="C586C0"/>
                </a:solidFill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en-US" sz="8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ChatPromptTemplate</a:t>
            </a:r>
            <a:br>
              <a:rPr lang="en-US" sz="8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800">
                <a:solidFill>
                  <a:srgbClr val="C586C0"/>
                </a:solidFill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en-US" sz="8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langchain_openai </a:t>
            </a:r>
            <a:r>
              <a:rPr lang="en-US" sz="800">
                <a:solidFill>
                  <a:srgbClr val="C586C0"/>
                </a:solidFill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en-US" sz="8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ChatOpenAI</a:t>
            </a:r>
            <a:br>
              <a:rPr lang="en-US" sz="8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br>
              <a:rPr lang="en-US" sz="8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i="1" lang="en-US" sz="800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rPr>
              <a:t># ✏️ Reemplace con su prompt real</a:t>
            </a:r>
            <a:br>
              <a:rPr i="1" lang="en-US" sz="800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800">
                <a:solidFill>
                  <a:srgbClr val="DCDCAA"/>
                </a:solidFill>
                <a:latin typeface="Courier New"/>
                <a:ea typeface="Courier New"/>
                <a:cs typeface="Courier New"/>
                <a:sym typeface="Courier New"/>
              </a:rPr>
              <a:t>prompt = ChatPromptTemplate.</a:t>
            </a:r>
            <a:r>
              <a:rPr lang="en-US" sz="800">
                <a:solidFill>
                  <a:srgbClr val="4EC9B0"/>
                </a:solidFill>
                <a:latin typeface="Courier New"/>
                <a:ea typeface="Courier New"/>
                <a:cs typeface="Courier New"/>
                <a:sym typeface="Courier New"/>
              </a:rPr>
              <a:t>from_messages</a:t>
            </a:r>
            <a:r>
              <a:rPr lang="en-US" sz="8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([</a:t>
            </a:r>
            <a:br>
              <a:rPr lang="en-US" sz="8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80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    ("system"</a:t>
            </a:r>
            <a:r>
              <a:rPr lang="en-US" sz="8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, "Su rol..."),</a:t>
            </a:r>
            <a:br>
              <a:rPr lang="en-US" sz="8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80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    ("human"</a:t>
            </a:r>
            <a:r>
              <a:rPr lang="en-US" sz="8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, "{input}"),</a:t>
            </a:r>
            <a:br>
              <a:rPr lang="en-US" sz="8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8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])</a:t>
            </a:r>
            <a:br>
              <a:rPr lang="en-US" sz="8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br>
              <a:rPr lang="en-US" sz="8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800">
                <a:solidFill>
                  <a:srgbClr val="4EC9B0"/>
                </a:solidFill>
                <a:latin typeface="Courier New"/>
                <a:ea typeface="Courier New"/>
                <a:cs typeface="Courier New"/>
                <a:sym typeface="Courier New"/>
              </a:rPr>
              <a:t>llm = ChatOpenAI</a:t>
            </a:r>
            <a:r>
              <a:rPr lang="en-US" sz="8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(model=</a:t>
            </a:r>
            <a:r>
              <a:rPr lang="en-US" sz="80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"gpt-4o"</a:t>
            </a:r>
            <a:r>
              <a:rPr lang="en-US" sz="8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, temperature=</a:t>
            </a:r>
            <a:r>
              <a:rPr lang="en-US" sz="800">
                <a:solidFill>
                  <a:srgbClr val="B5CEA8"/>
                </a:solidFill>
                <a:latin typeface="Courier New"/>
                <a:ea typeface="Courier New"/>
                <a:cs typeface="Courier New"/>
                <a:sym typeface="Courier New"/>
              </a:rPr>
              <a:t>0.7</a:t>
            </a:r>
            <a:r>
              <a:rPr lang="en-US" sz="8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br>
              <a:rPr lang="en-US" sz="8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br>
              <a:rPr lang="en-US" sz="8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8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chain = prompt | llm</a:t>
            </a:r>
            <a:br>
              <a:rPr lang="en-US" sz="8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i="1" lang="en-US" sz="800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rPr>
              <a:t># ✏️ Complete con su lógica de agente</a:t>
            </a:r>
            <a:br>
              <a:rPr i="1" lang="en-US" sz="800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800">
                <a:solidFill>
                  <a:srgbClr val="DCDCAA"/>
                </a:solidFill>
                <a:latin typeface="Courier New"/>
                <a:ea typeface="Courier New"/>
                <a:cs typeface="Courier New"/>
                <a:sym typeface="Courier New"/>
              </a:rPr>
              <a:t>response = chain.</a:t>
            </a:r>
            <a:r>
              <a:rPr lang="en-US" sz="800">
                <a:solidFill>
                  <a:srgbClr val="4EC9B0"/>
                </a:solidFill>
                <a:latin typeface="Courier New"/>
                <a:ea typeface="Courier New"/>
                <a:cs typeface="Courier New"/>
                <a:sym typeface="Courier New"/>
              </a:rPr>
              <a:t>invoke</a:t>
            </a:r>
            <a:r>
              <a:rPr lang="en-US" sz="8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({"input": "..."})</a:t>
            </a:r>
            <a:br>
              <a:rPr lang="en-US" sz="8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endParaRPr sz="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99" name="Google Shape;399;p9"/>
          <p:cNvSpPr/>
          <p:nvPr/>
        </p:nvSpPr>
        <p:spPr>
          <a:xfrm>
            <a:off x="5349240" y="1661922"/>
            <a:ext cx="3520440" cy="18745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00" name="Google Shape;400;p9"/>
          <p:cNvSpPr/>
          <p:nvPr/>
        </p:nvSpPr>
        <p:spPr>
          <a:xfrm>
            <a:off x="5349240" y="1661922"/>
            <a:ext cx="3520440" cy="347472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01" name="Google Shape;401;p9"/>
          <p:cNvSpPr/>
          <p:nvPr/>
        </p:nvSpPr>
        <p:spPr>
          <a:xfrm>
            <a:off x="5440680" y="1661922"/>
            <a:ext cx="33375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🧩  Cadena de Pensamiento (CoT)</a:t>
            </a:r>
            <a:endParaRPr sz="1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02" name="Google Shape;402;p9"/>
          <p:cNvSpPr/>
          <p:nvPr/>
        </p:nvSpPr>
        <p:spPr>
          <a:xfrm>
            <a:off x="5440680" y="2064258"/>
            <a:ext cx="3337560" cy="1316736"/>
          </a:xfrm>
          <a:prstGeom prst="rect">
            <a:avLst/>
          </a:prstGeom>
          <a:solidFill>
            <a:srgbClr val="FAFAFA"/>
          </a:solidFill>
          <a:ln cap="flat" cmpd="sng" w="15225">
            <a:solidFill>
              <a:srgbClr val="C8A41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03" name="Google Shape;403;p9"/>
          <p:cNvSpPr/>
          <p:nvPr/>
        </p:nvSpPr>
        <p:spPr>
          <a:xfrm>
            <a:off x="5513832" y="2119122"/>
            <a:ext cx="3191256" cy="1207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90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¿Aplica reasoning step-by-step?</a:t>
            </a:r>
            <a:endParaRPr sz="9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90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□ Sí  □ No</a:t>
            </a:r>
            <a:endParaRPr sz="9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90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Estrategia usada:</a:t>
            </a:r>
            <a:endParaRPr sz="9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90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□ Zero-shot CoT  □ Few-shot  □ ReAct</a:t>
            </a:r>
            <a:endParaRPr sz="9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90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□ Tree of Thought  □ Otra: ___</a:t>
            </a:r>
            <a:endParaRPr sz="9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90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[Explique cómo se implementa]</a:t>
            </a:r>
            <a:endParaRPr sz="9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04" name="Google Shape;404;p9"/>
          <p:cNvSpPr/>
          <p:nvPr/>
        </p:nvSpPr>
        <p:spPr>
          <a:xfrm>
            <a:off x="5349240" y="3646170"/>
            <a:ext cx="3520440" cy="202082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05" name="Google Shape;405;p9"/>
          <p:cNvSpPr/>
          <p:nvPr/>
        </p:nvSpPr>
        <p:spPr>
          <a:xfrm>
            <a:off x="5349240" y="3646170"/>
            <a:ext cx="3520440" cy="347472"/>
          </a:xfrm>
          <a:prstGeom prst="rect">
            <a:avLst/>
          </a:prstGeom>
          <a:solidFill>
            <a:srgbClr val="1A6B5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06" name="Google Shape;406;p9"/>
          <p:cNvSpPr/>
          <p:nvPr/>
        </p:nvSpPr>
        <p:spPr>
          <a:xfrm>
            <a:off x="5440680" y="3646170"/>
            <a:ext cx="33375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📚  Persistencia y RAG</a:t>
            </a:r>
            <a:endParaRPr sz="1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07" name="Google Shape;407;p9"/>
          <p:cNvSpPr/>
          <p:nvPr/>
        </p:nvSpPr>
        <p:spPr>
          <a:xfrm>
            <a:off x="5440680" y="4048506"/>
            <a:ext cx="3337560" cy="1536192"/>
          </a:xfrm>
          <a:prstGeom prst="rect">
            <a:avLst/>
          </a:prstGeom>
          <a:solidFill>
            <a:srgbClr val="FAFAFA"/>
          </a:solidFill>
          <a:ln cap="flat" cmpd="sng" w="15225">
            <a:solidFill>
              <a:srgbClr val="C8A41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08" name="Google Shape;408;p9"/>
          <p:cNvSpPr/>
          <p:nvPr/>
        </p:nvSpPr>
        <p:spPr>
          <a:xfrm>
            <a:off x="5513832" y="4103370"/>
            <a:ext cx="3191256" cy="14264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90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¿Aplica RAG o memoria persistente?</a:t>
            </a:r>
            <a:endParaRPr sz="9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90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□ Sí  □ No</a:t>
            </a:r>
            <a:endParaRPr sz="9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90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Vector store usado: □ FAISS □ Chroma</a:t>
            </a:r>
            <a:endParaRPr sz="9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90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□ Pinecone □ Qdrant □ Otro: ___</a:t>
            </a:r>
            <a:endParaRPr sz="9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90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Tipo de documentos indexados:</a:t>
            </a:r>
            <a:endParaRPr sz="9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90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[Complete aquí]</a:t>
            </a:r>
            <a:endParaRPr sz="9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90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Estrategia de retrieval:</a:t>
            </a:r>
            <a:endParaRPr sz="9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90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[Complete aquí]</a:t>
            </a:r>
            <a:endParaRPr sz="9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10"/>
          <p:cNvSpPr/>
          <p:nvPr/>
        </p:nvSpPr>
        <p:spPr>
          <a:xfrm>
            <a:off x="91440" y="1017270"/>
            <a:ext cx="8961120" cy="525780"/>
          </a:xfrm>
          <a:prstGeom prst="rect">
            <a:avLst/>
          </a:prstGeom>
          <a:solidFill>
            <a:srgbClr val="27A99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15" name="Google Shape;415;p10"/>
          <p:cNvSpPr/>
          <p:nvPr/>
        </p:nvSpPr>
        <p:spPr>
          <a:xfrm>
            <a:off x="365760" y="1017270"/>
            <a:ext cx="8423453" cy="525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08  |  LangChain — Video de Funcionamiento</a:t>
            </a:r>
            <a:endParaRPr sz="2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16" name="Google Shape;416;p10"/>
          <p:cNvSpPr/>
          <p:nvPr/>
        </p:nvSpPr>
        <p:spPr>
          <a:xfrm>
            <a:off x="0" y="6415597"/>
            <a:ext cx="9144000" cy="251460"/>
          </a:xfrm>
          <a:prstGeom prst="rect">
            <a:avLst/>
          </a:prstGeom>
          <a:solidFill>
            <a:srgbClr val="C8A41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17" name="Google Shape;417;p10"/>
          <p:cNvSpPr/>
          <p:nvPr/>
        </p:nvSpPr>
        <p:spPr>
          <a:xfrm>
            <a:off x="182880" y="6415597"/>
            <a:ext cx="8778240" cy="2514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003087"/>
                </a:solidFill>
                <a:latin typeface="Calibri"/>
                <a:ea typeface="Calibri"/>
                <a:cs typeface="Calibri"/>
                <a:sym typeface="Calibri"/>
              </a:rPr>
              <a:t>Maestría en Inteligencia Artificial — UNAL Sede Manizales   |   NIVEL 2 — hasta 4.5</a:t>
            </a:r>
            <a:endParaRPr sz="8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18" name="Google Shape;418;p10"/>
          <p:cNvSpPr/>
          <p:nvPr/>
        </p:nvSpPr>
        <p:spPr>
          <a:xfrm>
            <a:off x="7498080" y="1661922"/>
            <a:ext cx="1280160" cy="256032"/>
          </a:xfrm>
          <a:prstGeom prst="rect">
            <a:avLst/>
          </a:prstGeom>
          <a:solidFill>
            <a:srgbClr val="27A99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19" name="Google Shape;419;p10"/>
          <p:cNvSpPr/>
          <p:nvPr/>
        </p:nvSpPr>
        <p:spPr>
          <a:xfrm>
            <a:off x="7498080" y="1661922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NIVEL 2  ≤ 4.5</a:t>
            </a:r>
            <a:endParaRPr sz="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20" name="Google Shape;420;p10"/>
          <p:cNvSpPr/>
          <p:nvPr/>
        </p:nvSpPr>
        <p:spPr>
          <a:xfrm>
            <a:off x="1097280" y="1707642"/>
            <a:ext cx="6400800" cy="3291840"/>
          </a:xfrm>
          <a:prstGeom prst="rect">
            <a:avLst/>
          </a:prstGeom>
          <a:solidFill>
            <a:srgbClr val="111111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21" name="Google Shape;421;p10"/>
          <p:cNvSpPr/>
          <p:nvPr/>
        </p:nvSpPr>
        <p:spPr>
          <a:xfrm>
            <a:off x="1371600" y="1725930"/>
            <a:ext cx="640080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0">
                <a:solidFill>
                  <a:srgbClr val="27A99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▶</a:t>
            </a:r>
            <a:endParaRPr sz="7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22" name="Google Shape;422;p10"/>
          <p:cNvSpPr/>
          <p:nvPr/>
        </p:nvSpPr>
        <p:spPr>
          <a:xfrm>
            <a:off x="1371600" y="1725930"/>
            <a:ext cx="640080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0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(Inserte miniatura o screenshot del video de LangChain)</a:t>
            </a:r>
            <a:endParaRPr sz="1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23" name="Google Shape;423;p10"/>
          <p:cNvSpPr/>
          <p:nvPr/>
        </p:nvSpPr>
        <p:spPr>
          <a:xfrm>
            <a:off x="1371600" y="5109210"/>
            <a:ext cx="6400800" cy="475488"/>
          </a:xfrm>
          <a:prstGeom prst="rect">
            <a:avLst/>
          </a:prstGeom>
          <a:solidFill>
            <a:srgbClr val="FAFAFA"/>
          </a:solidFill>
          <a:ln cap="flat" cmpd="sng" w="15225">
            <a:solidFill>
              <a:srgbClr val="C8A41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24" name="Google Shape;424;p10"/>
          <p:cNvSpPr/>
          <p:nvPr/>
        </p:nvSpPr>
        <p:spPr>
          <a:xfrm>
            <a:off x="1444752" y="5164074"/>
            <a:ext cx="6254496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10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🔗  URL del video LangChain: [Pegar enlace — YouTube / Drive]</a:t>
            </a: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25" name="Google Shape;425;p10"/>
          <p:cNvSpPr/>
          <p:nvPr/>
        </p:nvSpPr>
        <p:spPr>
          <a:xfrm>
            <a:off x="274320" y="5493258"/>
            <a:ext cx="2011680" cy="347472"/>
          </a:xfrm>
          <a:prstGeom prst="rect">
            <a:avLst/>
          </a:prstGeom>
          <a:solidFill>
            <a:srgbClr val="27A99E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26" name="Google Shape;426;p10"/>
          <p:cNvSpPr/>
          <p:nvPr/>
        </p:nvSpPr>
        <p:spPr>
          <a:xfrm>
            <a:off x="274320" y="5493258"/>
            <a:ext cx="2011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5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🕐  Duración:</a:t>
            </a:r>
            <a:endParaRPr sz="7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5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4 – 10 min</a:t>
            </a:r>
            <a:endParaRPr sz="7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27" name="Google Shape;427;p10"/>
          <p:cNvSpPr/>
          <p:nvPr/>
        </p:nvSpPr>
        <p:spPr>
          <a:xfrm>
            <a:off x="2423160" y="5493258"/>
            <a:ext cx="2011680" cy="347472"/>
          </a:xfrm>
          <a:prstGeom prst="rect">
            <a:avLst/>
          </a:prstGeom>
          <a:solidFill>
            <a:srgbClr val="27A99E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28" name="Google Shape;428;p10"/>
          <p:cNvSpPr/>
          <p:nvPr/>
        </p:nvSpPr>
        <p:spPr>
          <a:xfrm>
            <a:off x="2423160" y="5493258"/>
            <a:ext cx="2011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5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⚙️  Mostrar:</a:t>
            </a:r>
            <a:endParaRPr sz="7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5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Ejecución real del agente</a:t>
            </a:r>
            <a:endParaRPr sz="7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29" name="Google Shape;429;p10"/>
          <p:cNvSpPr/>
          <p:nvPr/>
        </p:nvSpPr>
        <p:spPr>
          <a:xfrm>
            <a:off x="4572000" y="5493258"/>
            <a:ext cx="2011680" cy="347472"/>
          </a:xfrm>
          <a:prstGeom prst="rect">
            <a:avLst/>
          </a:prstGeom>
          <a:solidFill>
            <a:srgbClr val="27A99E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30" name="Google Shape;430;p10"/>
          <p:cNvSpPr/>
          <p:nvPr/>
        </p:nvSpPr>
        <p:spPr>
          <a:xfrm>
            <a:off x="4572000" y="5493258"/>
            <a:ext cx="2011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5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📝  Narrar:</a:t>
            </a:r>
            <a:endParaRPr sz="7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5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Cada componente LangChain</a:t>
            </a:r>
            <a:endParaRPr sz="7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31" name="Google Shape;431;p10"/>
          <p:cNvSpPr/>
          <p:nvPr/>
        </p:nvSpPr>
        <p:spPr>
          <a:xfrm>
            <a:off x="6720840" y="5493258"/>
            <a:ext cx="2011680" cy="347472"/>
          </a:xfrm>
          <a:prstGeom prst="rect">
            <a:avLst/>
          </a:prstGeom>
          <a:solidFill>
            <a:srgbClr val="27A99E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32" name="Google Shape;432;p10"/>
          <p:cNvSpPr/>
          <p:nvPr/>
        </p:nvSpPr>
        <p:spPr>
          <a:xfrm>
            <a:off x="6720840" y="5493258"/>
            <a:ext cx="2011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5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🔍  Incluir:</a:t>
            </a:r>
            <a:endParaRPr sz="7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5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Log de razonamiento / output</a:t>
            </a:r>
            <a:endParaRPr sz="7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11"/>
          <p:cNvSpPr/>
          <p:nvPr/>
        </p:nvSpPr>
        <p:spPr>
          <a:xfrm>
            <a:off x="182880" y="962406"/>
            <a:ext cx="8869680" cy="525780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39" name="Google Shape;439;p11"/>
          <p:cNvSpPr/>
          <p:nvPr/>
        </p:nvSpPr>
        <p:spPr>
          <a:xfrm>
            <a:off x="457200" y="962406"/>
            <a:ext cx="8337499" cy="525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09  |  Técnica Racional / Inteligente — Justificación y Diseño</a:t>
            </a:r>
            <a:endParaRPr sz="2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40" name="Google Shape;440;p11"/>
          <p:cNvSpPr/>
          <p:nvPr/>
        </p:nvSpPr>
        <p:spPr>
          <a:xfrm>
            <a:off x="0" y="6344713"/>
            <a:ext cx="9144000" cy="251460"/>
          </a:xfrm>
          <a:prstGeom prst="rect">
            <a:avLst/>
          </a:prstGeom>
          <a:solidFill>
            <a:srgbClr val="C8A41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41" name="Google Shape;441;p11"/>
          <p:cNvSpPr/>
          <p:nvPr/>
        </p:nvSpPr>
        <p:spPr>
          <a:xfrm>
            <a:off x="182880" y="6344713"/>
            <a:ext cx="8778240" cy="2514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003087"/>
                </a:solidFill>
                <a:latin typeface="Calibri"/>
                <a:ea typeface="Calibri"/>
                <a:cs typeface="Calibri"/>
                <a:sym typeface="Calibri"/>
              </a:rPr>
              <a:t>Especialización en Inteligencia Artificial — UNAL Sede Manizales   |   NIVEL 3 — nota 5.0</a:t>
            </a:r>
            <a:endParaRPr sz="8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42" name="Google Shape;442;p11"/>
          <p:cNvSpPr/>
          <p:nvPr/>
        </p:nvSpPr>
        <p:spPr>
          <a:xfrm>
            <a:off x="7498080" y="1661922"/>
            <a:ext cx="1280160" cy="256032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43" name="Google Shape;443;p11"/>
          <p:cNvSpPr/>
          <p:nvPr/>
        </p:nvSpPr>
        <p:spPr>
          <a:xfrm>
            <a:off x="7498080" y="1661922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NIVEL 3  = 5.0</a:t>
            </a:r>
            <a:endParaRPr sz="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44" name="Google Shape;444;p11"/>
          <p:cNvSpPr/>
          <p:nvPr/>
        </p:nvSpPr>
        <p:spPr>
          <a:xfrm>
            <a:off x="274320" y="1634490"/>
            <a:ext cx="8686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5B2D8E"/>
                </a:solidFill>
                <a:latin typeface="Calibri"/>
                <a:ea typeface="Calibri"/>
                <a:cs typeface="Calibri"/>
                <a:sym typeface="Calibri"/>
              </a:rPr>
              <a:t>Seleccione y desarrolle UNA o más estrategias de racionalidad:</a:t>
            </a: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45" name="Google Shape;445;p11"/>
          <p:cNvSpPr/>
          <p:nvPr/>
        </p:nvSpPr>
        <p:spPr>
          <a:xfrm>
            <a:off x="274320" y="1972818"/>
            <a:ext cx="4160520" cy="17373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46" name="Google Shape;446;p11"/>
          <p:cNvSpPr/>
          <p:nvPr/>
        </p:nvSpPr>
        <p:spPr>
          <a:xfrm>
            <a:off x="274320" y="1972818"/>
            <a:ext cx="4160520" cy="347472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47" name="Google Shape;447;p11"/>
          <p:cNvSpPr/>
          <p:nvPr/>
        </p:nvSpPr>
        <p:spPr>
          <a:xfrm>
            <a:off x="365760" y="1972818"/>
            <a:ext cx="3977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🌫️  Lógica Difusa</a:t>
            </a: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48" name="Google Shape;448;p11"/>
          <p:cNvSpPr/>
          <p:nvPr/>
        </p:nvSpPr>
        <p:spPr>
          <a:xfrm>
            <a:off x="365760" y="2375154"/>
            <a:ext cx="3977640" cy="1188720"/>
          </a:xfrm>
          <a:prstGeom prst="rect">
            <a:avLst/>
          </a:prstGeom>
          <a:solidFill>
            <a:srgbClr val="FAFAFA"/>
          </a:solidFill>
          <a:ln cap="flat" cmpd="sng" w="15225">
            <a:solidFill>
              <a:srgbClr val="C8A41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49" name="Google Shape;449;p11"/>
          <p:cNvSpPr/>
          <p:nvPr/>
        </p:nvSpPr>
        <p:spPr>
          <a:xfrm>
            <a:off x="438912" y="2430018"/>
            <a:ext cx="3831336" cy="107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85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• Variables lingüísticas definidas:</a:t>
            </a:r>
            <a:endParaRPr sz="8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85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  [ej. bajo, medio, alto]</a:t>
            </a:r>
            <a:endParaRPr sz="8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85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• Funciones de membresía:</a:t>
            </a:r>
            <a:endParaRPr sz="8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85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  [trapezoidal, triangular, gaussiana]</a:t>
            </a:r>
            <a:endParaRPr sz="8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85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• Reglas IF-THEN (mínimo 5):</a:t>
            </a:r>
            <a:endParaRPr sz="8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85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  [complete aquí]</a:t>
            </a:r>
            <a:endParaRPr sz="8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85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• Desfusificación: [método]</a:t>
            </a:r>
            <a:endParaRPr sz="8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50" name="Google Shape;450;p11"/>
          <p:cNvSpPr/>
          <p:nvPr/>
        </p:nvSpPr>
        <p:spPr>
          <a:xfrm>
            <a:off x="4709160" y="1972818"/>
            <a:ext cx="4160520" cy="17373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51" name="Google Shape;451;p11"/>
          <p:cNvSpPr/>
          <p:nvPr/>
        </p:nvSpPr>
        <p:spPr>
          <a:xfrm>
            <a:off x="4709160" y="1972818"/>
            <a:ext cx="4160520" cy="347472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52" name="Google Shape;452;p11"/>
          <p:cNvSpPr/>
          <p:nvPr/>
        </p:nvSpPr>
        <p:spPr>
          <a:xfrm>
            <a:off x="4800600" y="1972818"/>
            <a:ext cx="3977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🧩  Sistema Experto</a:t>
            </a: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53" name="Google Shape;453;p11"/>
          <p:cNvSpPr/>
          <p:nvPr/>
        </p:nvSpPr>
        <p:spPr>
          <a:xfrm>
            <a:off x="4800600" y="2375154"/>
            <a:ext cx="3977640" cy="1188720"/>
          </a:xfrm>
          <a:prstGeom prst="rect">
            <a:avLst/>
          </a:prstGeom>
          <a:solidFill>
            <a:srgbClr val="FAFAFA"/>
          </a:solidFill>
          <a:ln cap="flat" cmpd="sng" w="15225">
            <a:solidFill>
              <a:srgbClr val="C8A41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54" name="Google Shape;454;p11"/>
          <p:cNvSpPr/>
          <p:nvPr/>
        </p:nvSpPr>
        <p:spPr>
          <a:xfrm>
            <a:off x="4873752" y="2430018"/>
            <a:ext cx="3831336" cy="107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85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• Base de conocimiento:</a:t>
            </a:r>
            <a:endParaRPr sz="8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85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  N.° de reglas: ___</a:t>
            </a:r>
            <a:endParaRPr sz="8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85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  Hechos iniciales: [complete]</a:t>
            </a:r>
            <a:endParaRPr sz="8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85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• Motor de inferencia:</a:t>
            </a:r>
            <a:endParaRPr sz="8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85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  □ Hacia adelante  □ Hacia atrás</a:t>
            </a:r>
            <a:endParaRPr sz="8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85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• Herramienta: □ pyknow □ experta</a:t>
            </a:r>
            <a:endParaRPr sz="8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85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• Ejemplo de regla: [complete]</a:t>
            </a:r>
            <a:endParaRPr sz="8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55" name="Google Shape;455;p11"/>
          <p:cNvSpPr/>
          <p:nvPr/>
        </p:nvSpPr>
        <p:spPr>
          <a:xfrm>
            <a:off x="274320" y="3874770"/>
            <a:ext cx="4160520" cy="17373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56" name="Google Shape;456;p11"/>
          <p:cNvSpPr/>
          <p:nvPr/>
        </p:nvSpPr>
        <p:spPr>
          <a:xfrm>
            <a:off x="274320" y="3874770"/>
            <a:ext cx="4160520" cy="347472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57" name="Google Shape;457;p11"/>
          <p:cNvSpPr/>
          <p:nvPr/>
        </p:nvSpPr>
        <p:spPr>
          <a:xfrm>
            <a:off x="365760" y="3874770"/>
            <a:ext cx="3977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🤖  Redes Neuronales / DL</a:t>
            </a: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58" name="Google Shape;458;p11"/>
          <p:cNvSpPr/>
          <p:nvPr/>
        </p:nvSpPr>
        <p:spPr>
          <a:xfrm>
            <a:off x="365760" y="4277106"/>
            <a:ext cx="3977640" cy="1188720"/>
          </a:xfrm>
          <a:prstGeom prst="rect">
            <a:avLst/>
          </a:prstGeom>
          <a:solidFill>
            <a:srgbClr val="FAFAFA"/>
          </a:solidFill>
          <a:ln cap="flat" cmpd="sng" w="15225">
            <a:solidFill>
              <a:srgbClr val="C8A41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59" name="Google Shape;459;p11"/>
          <p:cNvSpPr/>
          <p:nvPr/>
        </p:nvSpPr>
        <p:spPr>
          <a:xfrm>
            <a:off x="438912" y="4331970"/>
            <a:ext cx="3831336" cy="107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85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• Arquitectura: [CNN/RNN/Transformer]</a:t>
            </a:r>
            <a:endParaRPr sz="8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85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• N.° capas / neuronas: ___</a:t>
            </a:r>
            <a:endParaRPr sz="8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85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• Dataset: [tamaño, origen]</a:t>
            </a:r>
            <a:endParaRPr sz="8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85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• Función de pérdida: ___</a:t>
            </a:r>
            <a:endParaRPr sz="8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85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• Métricas: Acc ___ / F1 ___ / AUC ___</a:t>
            </a:r>
            <a:endParaRPr sz="8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85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• Framework: □ TF □ PyTorch □ Keras</a:t>
            </a:r>
            <a:endParaRPr sz="8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60" name="Google Shape;460;p11"/>
          <p:cNvSpPr/>
          <p:nvPr/>
        </p:nvSpPr>
        <p:spPr>
          <a:xfrm>
            <a:off x="4709160" y="3874770"/>
            <a:ext cx="4160520" cy="17373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61" name="Google Shape;461;p11"/>
          <p:cNvSpPr/>
          <p:nvPr/>
        </p:nvSpPr>
        <p:spPr>
          <a:xfrm>
            <a:off x="4709160" y="3874770"/>
            <a:ext cx="4160520" cy="347472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62" name="Google Shape;462;p11"/>
          <p:cNvSpPr/>
          <p:nvPr/>
        </p:nvSpPr>
        <p:spPr>
          <a:xfrm>
            <a:off x="4800600" y="3874770"/>
            <a:ext cx="3977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📊  Machine Learning</a:t>
            </a: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63" name="Google Shape;463;p11"/>
          <p:cNvSpPr/>
          <p:nvPr/>
        </p:nvSpPr>
        <p:spPr>
          <a:xfrm>
            <a:off x="4800600" y="4277106"/>
            <a:ext cx="3977640" cy="1188720"/>
          </a:xfrm>
          <a:prstGeom prst="rect">
            <a:avLst/>
          </a:prstGeom>
          <a:solidFill>
            <a:srgbClr val="FAFAFA"/>
          </a:solidFill>
          <a:ln cap="flat" cmpd="sng" w="15225">
            <a:solidFill>
              <a:srgbClr val="C8A41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64" name="Google Shape;464;p11"/>
          <p:cNvSpPr/>
          <p:nvPr/>
        </p:nvSpPr>
        <p:spPr>
          <a:xfrm>
            <a:off x="4873752" y="4331970"/>
            <a:ext cx="3831336" cy="107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85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• Algoritmo: [XGBoost/RF/SVM/...]</a:t>
            </a:r>
            <a:endParaRPr sz="8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85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• Tipo: □ Supervisado □ No supervisado</a:t>
            </a:r>
            <a:endParaRPr sz="8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85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• Features principales: [complete]</a:t>
            </a:r>
            <a:endParaRPr sz="8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85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• Validación: □ k-fold □ Hold-out</a:t>
            </a:r>
            <a:endParaRPr sz="8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85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• Accuracy: ___ / Precision: ___</a:t>
            </a:r>
            <a:endParaRPr sz="8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85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• Recall: ___ / F1-Score: ___</a:t>
            </a:r>
            <a:endParaRPr sz="8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12"/>
          <p:cNvSpPr/>
          <p:nvPr/>
        </p:nvSpPr>
        <p:spPr>
          <a:xfrm>
            <a:off x="91440" y="992372"/>
            <a:ext cx="8869680" cy="550678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71" name="Google Shape;471;p12"/>
          <p:cNvSpPr/>
          <p:nvPr/>
        </p:nvSpPr>
        <p:spPr>
          <a:xfrm>
            <a:off x="365760" y="992372"/>
            <a:ext cx="8337499" cy="55067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  |  Resultados de la Técnica Racional — Métricas y Análisis</a:t>
            </a:r>
            <a:endParaRPr sz="2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72" name="Google Shape;472;p12"/>
          <p:cNvSpPr/>
          <p:nvPr/>
        </p:nvSpPr>
        <p:spPr>
          <a:xfrm>
            <a:off x="7498080" y="1661922"/>
            <a:ext cx="1280160" cy="256032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73" name="Google Shape;473;p12"/>
          <p:cNvSpPr/>
          <p:nvPr/>
        </p:nvSpPr>
        <p:spPr>
          <a:xfrm>
            <a:off x="7498080" y="1661922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NIVEL 3  = 5.0</a:t>
            </a:r>
            <a:endParaRPr sz="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74" name="Google Shape;474;p12"/>
          <p:cNvSpPr/>
          <p:nvPr/>
        </p:nvSpPr>
        <p:spPr>
          <a:xfrm>
            <a:off x="274320" y="1680210"/>
            <a:ext cx="4160520" cy="40050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75" name="Google Shape;475;p12"/>
          <p:cNvSpPr/>
          <p:nvPr/>
        </p:nvSpPr>
        <p:spPr>
          <a:xfrm>
            <a:off x="274320" y="1680210"/>
            <a:ext cx="4160520" cy="347472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76" name="Google Shape;476;p12"/>
          <p:cNvSpPr/>
          <p:nvPr/>
        </p:nvSpPr>
        <p:spPr>
          <a:xfrm>
            <a:off x="365760" y="1680210"/>
            <a:ext cx="3977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📈  Métricas de Evaluación</a:t>
            </a: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77" name="Google Shape;477;p12"/>
          <p:cNvSpPr/>
          <p:nvPr/>
        </p:nvSpPr>
        <p:spPr>
          <a:xfrm>
            <a:off x="411480" y="2119122"/>
            <a:ext cx="3886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50">
                <a:solidFill>
                  <a:srgbClr val="5B2D8E"/>
                </a:solidFill>
                <a:latin typeface="Calibri"/>
                <a:ea typeface="Calibri"/>
                <a:cs typeface="Calibri"/>
                <a:sym typeface="Calibri"/>
              </a:rPr>
              <a:t>▸  Rendimiento del modelo</a:t>
            </a:r>
            <a:endParaRPr sz="9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78" name="Google Shape;478;p12"/>
          <p:cNvSpPr/>
          <p:nvPr/>
        </p:nvSpPr>
        <p:spPr>
          <a:xfrm>
            <a:off x="411480" y="2375154"/>
            <a:ext cx="3886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9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   • Accuracy / Exactitud: ____%</a:t>
            </a:r>
            <a:endParaRPr sz="9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79" name="Google Shape;479;p12"/>
          <p:cNvSpPr/>
          <p:nvPr/>
        </p:nvSpPr>
        <p:spPr>
          <a:xfrm>
            <a:off x="411480" y="2603754"/>
            <a:ext cx="3886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9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   • Precision: ____%</a:t>
            </a:r>
            <a:endParaRPr sz="9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80" name="Google Shape;480;p12"/>
          <p:cNvSpPr/>
          <p:nvPr/>
        </p:nvSpPr>
        <p:spPr>
          <a:xfrm>
            <a:off x="411480" y="2832354"/>
            <a:ext cx="3886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9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   • Recall: ____%</a:t>
            </a:r>
            <a:endParaRPr sz="9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81" name="Google Shape;481;p12"/>
          <p:cNvSpPr/>
          <p:nvPr/>
        </p:nvSpPr>
        <p:spPr>
          <a:xfrm>
            <a:off x="411480" y="3060954"/>
            <a:ext cx="3886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9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   • F1-Score: ____%</a:t>
            </a:r>
            <a:endParaRPr sz="9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82" name="Google Shape;482;p12"/>
          <p:cNvSpPr/>
          <p:nvPr/>
        </p:nvSpPr>
        <p:spPr>
          <a:xfrm>
            <a:off x="411480" y="3362706"/>
            <a:ext cx="3886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50">
                <a:solidFill>
                  <a:srgbClr val="5B2D8E"/>
                </a:solidFill>
                <a:latin typeface="Calibri"/>
                <a:ea typeface="Calibri"/>
                <a:cs typeface="Calibri"/>
                <a:sym typeface="Calibri"/>
              </a:rPr>
              <a:t>▸  Calidad del sistema integrado</a:t>
            </a:r>
            <a:endParaRPr sz="9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83" name="Google Shape;483;p12"/>
          <p:cNvSpPr/>
          <p:nvPr/>
        </p:nvSpPr>
        <p:spPr>
          <a:xfrm>
            <a:off x="411480" y="3618738"/>
            <a:ext cx="3886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9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   • Tiempo de respuesta promedio: ____ ms</a:t>
            </a:r>
            <a:endParaRPr sz="9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84" name="Google Shape;484;p12"/>
          <p:cNvSpPr/>
          <p:nvPr/>
        </p:nvSpPr>
        <p:spPr>
          <a:xfrm>
            <a:off x="411480" y="3847338"/>
            <a:ext cx="3886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9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   • Tasa de éxito de interacciones: ____%</a:t>
            </a:r>
            <a:endParaRPr sz="9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85" name="Google Shape;485;p12"/>
          <p:cNvSpPr/>
          <p:nvPr/>
        </p:nvSpPr>
        <p:spPr>
          <a:xfrm>
            <a:off x="411480" y="4075938"/>
            <a:ext cx="3886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9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   • N.° de casos de prueba ejecutados: ____</a:t>
            </a:r>
            <a:endParaRPr sz="9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86" name="Google Shape;486;p12"/>
          <p:cNvSpPr/>
          <p:nvPr/>
        </p:nvSpPr>
        <p:spPr>
          <a:xfrm>
            <a:off x="411480" y="4377690"/>
            <a:ext cx="3886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50">
                <a:solidFill>
                  <a:srgbClr val="5B2D8E"/>
                </a:solidFill>
                <a:latin typeface="Calibri"/>
                <a:ea typeface="Calibri"/>
                <a:cs typeface="Calibri"/>
                <a:sym typeface="Calibri"/>
              </a:rPr>
              <a:t>▸  Valor agregado respecto a Nivel 2</a:t>
            </a:r>
            <a:endParaRPr sz="9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87" name="Google Shape;487;p12"/>
          <p:cNvSpPr/>
          <p:nvPr/>
        </p:nvSpPr>
        <p:spPr>
          <a:xfrm>
            <a:off x="411480" y="4633722"/>
            <a:ext cx="3886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9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   • Mejora en precisión: ____%</a:t>
            </a:r>
            <a:endParaRPr sz="9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88" name="Google Shape;488;p12"/>
          <p:cNvSpPr/>
          <p:nvPr/>
        </p:nvSpPr>
        <p:spPr>
          <a:xfrm>
            <a:off x="411480" y="4862322"/>
            <a:ext cx="3886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9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   • Reducción de errores: ____%</a:t>
            </a:r>
            <a:endParaRPr sz="9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89" name="Google Shape;489;p12"/>
          <p:cNvSpPr/>
          <p:nvPr/>
        </p:nvSpPr>
        <p:spPr>
          <a:xfrm>
            <a:off x="411480" y="5090922"/>
            <a:ext cx="3886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9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   • Descripción cualitativa: [complete]</a:t>
            </a:r>
            <a:endParaRPr sz="9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90" name="Google Shape;490;p12"/>
          <p:cNvSpPr/>
          <p:nvPr/>
        </p:nvSpPr>
        <p:spPr>
          <a:xfrm>
            <a:off x="4663440" y="1680210"/>
            <a:ext cx="4114800" cy="21031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91" name="Google Shape;491;p12"/>
          <p:cNvSpPr/>
          <p:nvPr/>
        </p:nvSpPr>
        <p:spPr>
          <a:xfrm>
            <a:off x="4663440" y="1680210"/>
            <a:ext cx="4114800" cy="347472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92" name="Google Shape;492;p12"/>
          <p:cNvSpPr/>
          <p:nvPr/>
        </p:nvSpPr>
        <p:spPr>
          <a:xfrm>
            <a:off x="4754880" y="1680210"/>
            <a:ext cx="3931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📊  Gráfico de Resultados</a:t>
            </a: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93" name="Google Shape;493;p12"/>
          <p:cNvSpPr/>
          <p:nvPr/>
        </p:nvSpPr>
        <p:spPr>
          <a:xfrm>
            <a:off x="4754880" y="2082546"/>
            <a:ext cx="3931920" cy="1554480"/>
          </a:xfrm>
          <a:prstGeom prst="rect">
            <a:avLst/>
          </a:prstGeom>
          <a:solidFill>
            <a:srgbClr val="FAFAFA"/>
          </a:solidFill>
          <a:ln cap="flat" cmpd="sng" w="15225">
            <a:solidFill>
              <a:srgbClr val="C8A41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94" name="Google Shape;494;p12"/>
          <p:cNvSpPr/>
          <p:nvPr/>
        </p:nvSpPr>
        <p:spPr>
          <a:xfrm>
            <a:off x="4828032" y="2137410"/>
            <a:ext cx="3785616" cy="1444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90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[Inserte gráfico de barras, curva ROC, matriz de confusión</a:t>
            </a:r>
            <a:endParaRPr sz="9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90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u otro visual de métricas del modelo]</a:t>
            </a:r>
            <a:endParaRPr sz="9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90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Herramienta: matplotlib / seaborn / plotly</a:t>
            </a:r>
            <a:endParaRPr sz="9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95" name="Google Shape;495;p12"/>
          <p:cNvSpPr/>
          <p:nvPr/>
        </p:nvSpPr>
        <p:spPr>
          <a:xfrm>
            <a:off x="4663440" y="3893058"/>
            <a:ext cx="4114800" cy="179222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96" name="Google Shape;496;p12"/>
          <p:cNvSpPr/>
          <p:nvPr/>
        </p:nvSpPr>
        <p:spPr>
          <a:xfrm>
            <a:off x="4663440" y="3893058"/>
            <a:ext cx="4114800" cy="347472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97" name="Google Shape;497;p12"/>
          <p:cNvSpPr/>
          <p:nvPr/>
        </p:nvSpPr>
        <p:spPr>
          <a:xfrm>
            <a:off x="4754880" y="3893058"/>
            <a:ext cx="3931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💬  Análisis Crítico e Integración</a:t>
            </a: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98" name="Google Shape;498;p12"/>
          <p:cNvSpPr/>
          <p:nvPr/>
        </p:nvSpPr>
        <p:spPr>
          <a:xfrm>
            <a:off x="4754880" y="4295394"/>
            <a:ext cx="3931920" cy="1298448"/>
          </a:xfrm>
          <a:prstGeom prst="rect">
            <a:avLst/>
          </a:prstGeom>
          <a:solidFill>
            <a:srgbClr val="FAFAFA"/>
          </a:solidFill>
          <a:ln cap="flat" cmpd="sng" w="15225">
            <a:solidFill>
              <a:srgbClr val="C8A41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99" name="Google Shape;499;p12"/>
          <p:cNvSpPr/>
          <p:nvPr/>
        </p:nvSpPr>
        <p:spPr>
          <a:xfrm>
            <a:off x="4828032" y="4350258"/>
            <a:ext cx="3785616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90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¿Cómo se integra la técnica en el pipeline LangChain?</a:t>
            </a:r>
            <a:endParaRPr sz="9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90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¿Qué limitaciones o sesgos se identificaron?</a:t>
            </a:r>
            <a:endParaRPr sz="9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90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¿Qué mejoras propondría el grupo?</a:t>
            </a:r>
            <a:endParaRPr sz="9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90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[Complete aquí con análisis del equipo]</a:t>
            </a:r>
            <a:endParaRPr sz="9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00" name="Google Shape;500;p12"/>
          <p:cNvSpPr/>
          <p:nvPr/>
        </p:nvSpPr>
        <p:spPr>
          <a:xfrm>
            <a:off x="0" y="6344713"/>
            <a:ext cx="9144000" cy="251460"/>
          </a:xfrm>
          <a:prstGeom prst="rect">
            <a:avLst/>
          </a:prstGeom>
          <a:solidFill>
            <a:srgbClr val="C8A41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01" name="Google Shape;501;p12"/>
          <p:cNvSpPr/>
          <p:nvPr/>
        </p:nvSpPr>
        <p:spPr>
          <a:xfrm>
            <a:off x="182880" y="6344713"/>
            <a:ext cx="8778240" cy="2514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003087"/>
                </a:solidFill>
                <a:latin typeface="Calibri"/>
                <a:ea typeface="Calibri"/>
                <a:cs typeface="Calibri"/>
                <a:sym typeface="Calibri"/>
              </a:rPr>
              <a:t>Especialización en Inteligencia Artificial — UNAL Sede Manizales   |   NIVEL 3 — nota 5.0</a:t>
            </a:r>
            <a:endParaRPr sz="8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13"/>
          <p:cNvSpPr/>
          <p:nvPr/>
        </p:nvSpPr>
        <p:spPr>
          <a:xfrm>
            <a:off x="137160" y="1032288"/>
            <a:ext cx="8869680" cy="508148"/>
          </a:xfrm>
          <a:prstGeom prst="rect">
            <a:avLst/>
          </a:prstGeom>
          <a:solidFill>
            <a:srgbClr val="C8A41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08" name="Google Shape;508;p13"/>
          <p:cNvSpPr/>
          <p:nvPr/>
        </p:nvSpPr>
        <p:spPr>
          <a:xfrm>
            <a:off x="411480" y="1032288"/>
            <a:ext cx="8337499" cy="5081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11  |  Conclusiones y Trabajo Futuro</a:t>
            </a:r>
            <a:endParaRPr sz="2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09" name="Google Shape;509;p13"/>
          <p:cNvSpPr/>
          <p:nvPr/>
        </p:nvSpPr>
        <p:spPr>
          <a:xfrm>
            <a:off x="182880" y="5749290"/>
            <a:ext cx="8778240" cy="2514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003087"/>
                </a:solidFill>
                <a:latin typeface="Calibri"/>
                <a:ea typeface="Calibri"/>
                <a:cs typeface="Calibri"/>
                <a:sym typeface="Calibri"/>
              </a:rPr>
              <a:t>Especialización en Inteligencia Artificial — UNAL Sede Manizales</a:t>
            </a:r>
            <a:endParaRPr sz="8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10" name="Google Shape;510;p13"/>
          <p:cNvSpPr/>
          <p:nvPr/>
        </p:nvSpPr>
        <p:spPr>
          <a:xfrm>
            <a:off x="274320" y="1680210"/>
            <a:ext cx="4114800" cy="3977640"/>
          </a:xfrm>
          <a:prstGeom prst="rect">
            <a:avLst/>
          </a:prstGeom>
          <a:solidFill>
            <a:srgbClr val="001A5E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11" name="Google Shape;511;p13"/>
          <p:cNvSpPr/>
          <p:nvPr/>
        </p:nvSpPr>
        <p:spPr>
          <a:xfrm>
            <a:off x="274320" y="1680210"/>
            <a:ext cx="4114800" cy="365760"/>
          </a:xfrm>
          <a:prstGeom prst="rect">
            <a:avLst/>
          </a:prstGeom>
          <a:solidFill>
            <a:srgbClr val="C8A41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12" name="Google Shape;512;p13"/>
          <p:cNvSpPr/>
          <p:nvPr/>
        </p:nvSpPr>
        <p:spPr>
          <a:xfrm>
            <a:off x="365760" y="1680210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003087"/>
                </a:solidFill>
                <a:latin typeface="Calibri"/>
                <a:ea typeface="Calibri"/>
                <a:cs typeface="Calibri"/>
                <a:sym typeface="Calibri"/>
              </a:rPr>
              <a:t>✅  Conclusiones del Proyecto</a:t>
            </a: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13" name="Google Shape;513;p13"/>
          <p:cNvSpPr/>
          <p:nvPr/>
        </p:nvSpPr>
        <p:spPr>
          <a:xfrm>
            <a:off x="365760" y="2100834"/>
            <a:ext cx="3931920" cy="3438144"/>
          </a:xfrm>
          <a:prstGeom prst="rect">
            <a:avLst/>
          </a:prstGeom>
          <a:solidFill>
            <a:srgbClr val="FAFAFA"/>
          </a:solidFill>
          <a:ln cap="flat" cmpd="sng" w="15225">
            <a:solidFill>
              <a:srgbClr val="C8A41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14" name="Google Shape;514;p13"/>
          <p:cNvSpPr/>
          <p:nvPr/>
        </p:nvSpPr>
        <p:spPr>
          <a:xfrm>
            <a:off x="438912" y="2155698"/>
            <a:ext cx="3785616" cy="332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00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1. Conclusión sobre el Nivel 1 (N8n):</a:t>
            </a:r>
            <a:endParaRPr sz="1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00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[Complete aquí]</a:t>
            </a:r>
            <a:endParaRPr sz="1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00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2. Conclusión sobre el Nivel 2 (LangChain):</a:t>
            </a:r>
            <a:endParaRPr sz="1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00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[Complete aquí]</a:t>
            </a:r>
            <a:endParaRPr sz="1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00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3. Conclusión sobre la Técnica Racional:</a:t>
            </a:r>
            <a:endParaRPr sz="1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00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[Complete aquí]</a:t>
            </a:r>
            <a:endParaRPr sz="1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00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4. Aprendizajes del equipo:</a:t>
            </a:r>
            <a:endParaRPr sz="1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00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[Complete aquí]</a:t>
            </a:r>
            <a:endParaRPr sz="1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15" name="Google Shape;515;p13"/>
          <p:cNvSpPr/>
          <p:nvPr/>
        </p:nvSpPr>
        <p:spPr>
          <a:xfrm>
            <a:off x="4754880" y="1680210"/>
            <a:ext cx="4114800" cy="3977640"/>
          </a:xfrm>
          <a:prstGeom prst="rect">
            <a:avLst/>
          </a:prstGeom>
          <a:solidFill>
            <a:srgbClr val="001A5E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16" name="Google Shape;516;p13"/>
          <p:cNvSpPr/>
          <p:nvPr/>
        </p:nvSpPr>
        <p:spPr>
          <a:xfrm>
            <a:off x="4754880" y="1680210"/>
            <a:ext cx="4114800" cy="365760"/>
          </a:xfrm>
          <a:prstGeom prst="rect">
            <a:avLst/>
          </a:prstGeom>
          <a:solidFill>
            <a:srgbClr val="27A99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17" name="Google Shape;517;p13"/>
          <p:cNvSpPr/>
          <p:nvPr/>
        </p:nvSpPr>
        <p:spPr>
          <a:xfrm>
            <a:off x="4846320" y="1680210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🚀  Trabajo Futuro y Mejoras</a:t>
            </a: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18" name="Google Shape;518;p13"/>
          <p:cNvSpPr/>
          <p:nvPr/>
        </p:nvSpPr>
        <p:spPr>
          <a:xfrm>
            <a:off x="4846320" y="2100834"/>
            <a:ext cx="3931920" cy="3438144"/>
          </a:xfrm>
          <a:prstGeom prst="rect">
            <a:avLst/>
          </a:prstGeom>
          <a:solidFill>
            <a:srgbClr val="FAFAFA"/>
          </a:solidFill>
          <a:ln cap="flat" cmpd="sng" w="15225">
            <a:solidFill>
              <a:srgbClr val="C8A41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19" name="Google Shape;519;p13"/>
          <p:cNvSpPr/>
          <p:nvPr/>
        </p:nvSpPr>
        <p:spPr>
          <a:xfrm>
            <a:off x="4919472" y="2155698"/>
            <a:ext cx="3785616" cy="332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00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1. Mejora técnica propuesta:</a:t>
            </a:r>
            <a:endParaRPr sz="1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00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[Complete aquí]</a:t>
            </a:r>
            <a:endParaRPr sz="1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00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2. Escalabilidad del sistema:</a:t>
            </a:r>
            <a:endParaRPr sz="1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00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[Complete aquí]</a:t>
            </a:r>
            <a:endParaRPr sz="1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00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3. Aplicación real en producción:</a:t>
            </a:r>
            <a:endParaRPr sz="1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00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[Complete aquí]</a:t>
            </a:r>
            <a:endParaRPr sz="1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00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4. Línea de investigación futura:</a:t>
            </a:r>
            <a:endParaRPr sz="1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00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[Complete aquí]</a:t>
            </a:r>
            <a:endParaRPr sz="1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20" name="Google Shape;520;p13"/>
          <p:cNvSpPr/>
          <p:nvPr/>
        </p:nvSpPr>
        <p:spPr>
          <a:xfrm>
            <a:off x="0" y="6344713"/>
            <a:ext cx="9144000" cy="251460"/>
          </a:xfrm>
          <a:prstGeom prst="rect">
            <a:avLst/>
          </a:prstGeom>
          <a:solidFill>
            <a:srgbClr val="C8A41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21" name="Google Shape;521;p13"/>
          <p:cNvSpPr/>
          <p:nvPr/>
        </p:nvSpPr>
        <p:spPr>
          <a:xfrm>
            <a:off x="182880" y="6344713"/>
            <a:ext cx="8778240" cy="2514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003087"/>
                </a:solidFill>
                <a:latin typeface="Calibri"/>
                <a:ea typeface="Calibri"/>
                <a:cs typeface="Calibri"/>
                <a:sym typeface="Calibri"/>
              </a:rPr>
              <a:t>Especialización en Inteligencia Artificial — UNAL Sede Manizales   |   NIVEL 3 — nota 5.0</a:t>
            </a:r>
            <a:endParaRPr sz="8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6" name="Google Shape;52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085811"/>
            <a:ext cx="3810000" cy="4762500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14"/>
          <p:cNvSpPr txBox="1"/>
          <p:nvPr>
            <p:ph type="title"/>
          </p:nvPr>
        </p:nvSpPr>
        <p:spPr>
          <a:xfrm>
            <a:off x="2816650" y="2186327"/>
            <a:ext cx="4966446" cy="139849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156499"/>
              </a:buClr>
              <a:buSzPts val="4800"/>
              <a:buFont typeface="Century Gothic"/>
              <a:buNone/>
            </a:pPr>
            <a:r>
              <a:rPr b="1" lang="en-US" sz="4800">
                <a:solidFill>
                  <a:srgbClr val="156499"/>
                </a:solidFill>
              </a:rPr>
              <a:t>Tutorial: Titulo</a:t>
            </a:r>
            <a:endParaRPr/>
          </a:p>
        </p:txBody>
      </p:sp>
      <p:sp>
        <p:nvSpPr>
          <p:cNvPr id="528" name="Google Shape;528;p14"/>
          <p:cNvSpPr txBox="1"/>
          <p:nvPr>
            <p:ph idx="1" type="body"/>
          </p:nvPr>
        </p:nvSpPr>
        <p:spPr>
          <a:xfrm>
            <a:off x="2816650" y="4154154"/>
            <a:ext cx="4966446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>
                <a:solidFill>
                  <a:srgbClr val="0000FF"/>
                </a:solidFill>
              </a:rPr>
              <a:t>Nombre, código, correo, estudiantes</a:t>
            </a:r>
            <a:endParaRPr/>
          </a:p>
          <a:p>
            <a:pPr indent="0" lvl="0" marL="0" rtl="0" algn="r">
              <a:spcBef>
                <a:spcPts val="18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  <p:sp>
        <p:nvSpPr>
          <p:cNvPr id="529" name="Google Shape;529;p14"/>
          <p:cNvSpPr txBox="1"/>
          <p:nvPr/>
        </p:nvSpPr>
        <p:spPr>
          <a:xfrm>
            <a:off x="6685280" y="6035040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  <mc:AlternateContent>
    <mc:Choice Requires="p14">
      <p:transition spd="slow" p14:dur="1200">
        <p14:prism dir="l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laza">
  <a:themeElements>
    <a:clrScheme name="Artículo">
      <a:dk1>
        <a:srgbClr val="000000"/>
      </a:dk1>
      <a:lt1>
        <a:srgbClr val="FFFFFF"/>
      </a:lt1>
      <a:dk2>
        <a:srgbClr val="212121"/>
      </a:dk2>
      <a:lt2>
        <a:srgbClr val="CDD4D7"/>
      </a:lt2>
      <a:accent1>
        <a:srgbClr val="1D86CD"/>
      </a:accent1>
      <a:accent2>
        <a:srgbClr val="732E9A"/>
      </a:accent2>
      <a:accent3>
        <a:srgbClr val="B50B1B"/>
      </a:accent3>
      <a:accent4>
        <a:srgbClr val="E8950E"/>
      </a:accent4>
      <a:accent5>
        <a:srgbClr val="55992B"/>
      </a:accent5>
      <a:accent6>
        <a:srgbClr val="2C9C89"/>
      </a:accent6>
      <a:hlink>
        <a:srgbClr val="EC4D4D"/>
      </a:hlink>
      <a:folHlink>
        <a:srgbClr val="F8CE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2010-09-20T07:20:35Z</dcterms:created>
  <dc:creator>Jose Angel Bañares Bañares</dc:creator>
</cp:coreProperties>
</file>