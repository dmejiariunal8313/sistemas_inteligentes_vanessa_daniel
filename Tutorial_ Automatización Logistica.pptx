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embeddedFontLs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wcHUtD1UqNlvEAgOJWWXEcziV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83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regular.fntdata"/><Relationship Id="rId11" Type="http://schemas.openxmlformats.org/officeDocument/2006/relationships/slide" Target="slides/slide6.xml"/><Relationship Id="rId22" Type="http://schemas.openxmlformats.org/officeDocument/2006/relationships/font" Target="fonts/CenturyGothic-italic.fntdata"/><Relationship Id="rId10" Type="http://schemas.openxmlformats.org/officeDocument/2006/relationships/slide" Target="slides/slide5.xml"/><Relationship Id="rId21" Type="http://schemas.openxmlformats.org/officeDocument/2006/relationships/font" Target="fonts/CenturyGothic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CenturyGothic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18;p16"/>
          <p:cNvSpPr/>
          <p:nvPr/>
        </p:nvSpPr>
        <p:spPr>
          <a:xfrm>
            <a:off x="268940" y="268290"/>
            <a:ext cx="182880" cy="388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" name="Google Shape;19;p16"/>
          <p:cNvSpPr txBox="1"/>
          <p:nvPr>
            <p:ph type="ctrTitle"/>
          </p:nvPr>
        </p:nvSpPr>
        <p:spPr>
          <a:xfrm>
            <a:off x="3200400" y="4208929"/>
            <a:ext cx="5458968" cy="10486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sz="4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" type="subTitle"/>
          </p:nvPr>
        </p:nvSpPr>
        <p:spPr>
          <a:xfrm>
            <a:off x="3200400" y="5257800"/>
            <a:ext cx="54589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None/>
              <a:defRPr sz="16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16"/>
          <p:cNvSpPr txBox="1"/>
          <p:nvPr>
            <p:ph idx="10" type="dt"/>
          </p:nvPr>
        </p:nvSpPr>
        <p:spPr>
          <a:xfrm>
            <a:off x="3276600" y="390527"/>
            <a:ext cx="55046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22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1" type="ftr"/>
          </p:nvPr>
        </p:nvSpPr>
        <p:spPr>
          <a:xfrm>
            <a:off x="3218688" y="6356352"/>
            <a:ext cx="473659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2" type="sldNum"/>
          </p:nvPr>
        </p:nvSpPr>
        <p:spPr>
          <a:xfrm>
            <a:off x="8256494" y="6356352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7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body"/>
          </p:nvPr>
        </p:nvSpPr>
        <p:spPr>
          <a:xfrm>
            <a:off x="457199" y="2209802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7212106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" name="Google Shape;32;p19"/>
          <p:cNvSpPr txBox="1"/>
          <p:nvPr>
            <p:ph type="title"/>
          </p:nvPr>
        </p:nvSpPr>
        <p:spPr>
          <a:xfrm>
            <a:off x="2209802" y="3429000"/>
            <a:ext cx="4966446" cy="1398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b="0" sz="4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2209802" y="4824414"/>
            <a:ext cx="4966446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8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5562600" y="6356352"/>
            <a:ext cx="1622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174812" y="6356352"/>
            <a:ext cx="53115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con imagen">
  <p:cSld name="Diapositiva de título con image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39;p20"/>
          <p:cNvSpPr txBox="1"/>
          <p:nvPr>
            <p:ph type="ctrTitle"/>
          </p:nvPr>
        </p:nvSpPr>
        <p:spPr>
          <a:xfrm>
            <a:off x="3200399" y="4171950"/>
            <a:ext cx="545791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" type="subTitle"/>
          </p:nvPr>
        </p:nvSpPr>
        <p:spPr>
          <a:xfrm>
            <a:off x="3200402" y="5257801"/>
            <a:ext cx="5457918" cy="618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3276600" y="389967"/>
            <a:ext cx="549984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sz="22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213848" y="6356352"/>
            <a:ext cx="47341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265459" y="6356352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b="1" sz="11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20"/>
          <p:cNvSpPr/>
          <p:nvPr>
            <p:ph idx="2" type="pic"/>
          </p:nvPr>
        </p:nvSpPr>
        <p:spPr>
          <a:xfrm>
            <a:off x="3200401" y="2877671"/>
            <a:ext cx="5646867" cy="128016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20"/>
          <p:cNvSpPr/>
          <p:nvPr/>
        </p:nvSpPr>
        <p:spPr>
          <a:xfrm>
            <a:off x="268940" y="268290"/>
            <a:ext cx="182880" cy="388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objetos e imagen">
  <p:cSld name="Título, objetos e image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" name="Google Shape;48;p21"/>
          <p:cNvSpPr txBox="1"/>
          <p:nvPr>
            <p:ph type="title"/>
          </p:nvPr>
        </p:nvSpPr>
        <p:spPr>
          <a:xfrm>
            <a:off x="2178424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" type="body"/>
          </p:nvPr>
        </p:nvSpPr>
        <p:spPr>
          <a:xfrm>
            <a:off x="2178424" y="2209802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7212106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2178423" y="6356352"/>
            <a:ext cx="49268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3316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21"/>
          <p:cNvSpPr/>
          <p:nvPr>
            <p:ph idx="2" type="pic"/>
          </p:nvPr>
        </p:nvSpPr>
        <p:spPr>
          <a:xfrm>
            <a:off x="269875" y="1976718"/>
            <a:ext cx="1645920" cy="462578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ción con imagen">
  <p:cSld name="Sección con image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22"/>
          <p:cNvSpPr txBox="1"/>
          <p:nvPr>
            <p:ph type="title"/>
          </p:nvPr>
        </p:nvSpPr>
        <p:spPr>
          <a:xfrm>
            <a:off x="3720354" y="3429001"/>
            <a:ext cx="4966446" cy="13984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600"/>
              <a:buFont typeface="Century Gothic"/>
              <a:buNone/>
              <a:defRPr b="0" sz="46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" type="body"/>
          </p:nvPr>
        </p:nvSpPr>
        <p:spPr>
          <a:xfrm>
            <a:off x="3720354" y="4824414"/>
            <a:ext cx="4966446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18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8" name="Google Shape;58;p22"/>
          <p:cNvSpPr txBox="1"/>
          <p:nvPr>
            <p:ph idx="12" type="sldNum"/>
          </p:nvPr>
        </p:nvSpPr>
        <p:spPr>
          <a:xfrm>
            <a:off x="351213" y="6104967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2"/>
          <p:cNvSpPr/>
          <p:nvPr>
            <p:ph idx="2" type="pic"/>
          </p:nvPr>
        </p:nvSpPr>
        <p:spPr>
          <a:xfrm>
            <a:off x="269874" y="268288"/>
            <a:ext cx="2971800" cy="44386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" name="Google Shape;62;p23"/>
          <p:cNvSpPr txBox="1"/>
          <p:nvPr>
            <p:ph type="title"/>
          </p:nvPr>
        </p:nvSpPr>
        <p:spPr>
          <a:xfrm>
            <a:off x="457200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" type="body"/>
          </p:nvPr>
        </p:nvSpPr>
        <p:spPr>
          <a:xfrm>
            <a:off x="45720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4" name="Google Shape;64;p23"/>
          <p:cNvSpPr txBox="1"/>
          <p:nvPr>
            <p:ph idx="2" type="body"/>
          </p:nvPr>
        </p:nvSpPr>
        <p:spPr>
          <a:xfrm>
            <a:off x="428244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" name="Google Shape;70;p24"/>
          <p:cNvSpPr txBox="1"/>
          <p:nvPr>
            <p:ph type="title"/>
          </p:nvPr>
        </p:nvSpPr>
        <p:spPr>
          <a:xfrm>
            <a:off x="457199" y="914400"/>
            <a:ext cx="738835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" type="body"/>
          </p:nvPr>
        </p:nvSpPr>
        <p:spPr>
          <a:xfrm>
            <a:off x="457200" y="2054132"/>
            <a:ext cx="356616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24"/>
          <p:cNvSpPr txBox="1"/>
          <p:nvPr>
            <p:ph idx="2" type="body"/>
          </p:nvPr>
        </p:nvSpPr>
        <p:spPr>
          <a:xfrm>
            <a:off x="457200" y="2689413"/>
            <a:ext cx="3566160" cy="3436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3" name="Google Shape;73;p24"/>
          <p:cNvSpPr txBox="1"/>
          <p:nvPr>
            <p:ph idx="3" type="body"/>
          </p:nvPr>
        </p:nvSpPr>
        <p:spPr>
          <a:xfrm>
            <a:off x="4279391" y="2054132"/>
            <a:ext cx="356616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4" name="Google Shape;74;p24"/>
          <p:cNvSpPr txBox="1"/>
          <p:nvPr>
            <p:ph idx="4" type="body"/>
          </p:nvPr>
        </p:nvSpPr>
        <p:spPr>
          <a:xfrm>
            <a:off x="4279391" y="2689413"/>
            <a:ext cx="3566160" cy="3436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objetos, superior e inferior">
  <p:cSld name="2 objetos, superior e inferio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" name="Google Shape;80;p25"/>
          <p:cNvSpPr txBox="1"/>
          <p:nvPr>
            <p:ph type="title"/>
          </p:nvPr>
        </p:nvSpPr>
        <p:spPr>
          <a:xfrm>
            <a:off x="457200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>
            <a:off x="457199" y="2214562"/>
            <a:ext cx="7396163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25"/>
          <p:cNvSpPr txBox="1"/>
          <p:nvPr>
            <p:ph idx="2" type="body"/>
          </p:nvPr>
        </p:nvSpPr>
        <p:spPr>
          <a:xfrm>
            <a:off x="457199" y="4224973"/>
            <a:ext cx="7396163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objetos">
  <p:cSld name="3 objeto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26"/>
          <p:cNvSpPr txBox="1"/>
          <p:nvPr>
            <p:ph type="title"/>
          </p:nvPr>
        </p:nvSpPr>
        <p:spPr>
          <a:xfrm>
            <a:off x="457200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" type="body"/>
          </p:nvPr>
        </p:nvSpPr>
        <p:spPr>
          <a:xfrm>
            <a:off x="428244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0" name="Google Shape;90;p26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6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26"/>
          <p:cNvSpPr txBox="1"/>
          <p:nvPr>
            <p:ph idx="2" type="body"/>
          </p:nvPr>
        </p:nvSpPr>
        <p:spPr>
          <a:xfrm>
            <a:off x="428244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4" name="Google Shape;94;p26"/>
          <p:cNvSpPr txBox="1"/>
          <p:nvPr>
            <p:ph idx="3" type="body"/>
          </p:nvPr>
        </p:nvSpPr>
        <p:spPr>
          <a:xfrm>
            <a:off x="457200" y="2214563"/>
            <a:ext cx="3566160" cy="3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objetos">
  <p:cSld name="4 objeto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27"/>
          <p:cNvSpPr txBox="1"/>
          <p:nvPr>
            <p:ph type="title"/>
          </p:nvPr>
        </p:nvSpPr>
        <p:spPr>
          <a:xfrm>
            <a:off x="457200" y="914400"/>
            <a:ext cx="739140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" type="body"/>
          </p:nvPr>
        </p:nvSpPr>
        <p:spPr>
          <a:xfrm>
            <a:off x="428244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99" name="Google Shape;99;p27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27"/>
          <p:cNvSpPr txBox="1"/>
          <p:nvPr>
            <p:ph idx="2" type="body"/>
          </p:nvPr>
        </p:nvSpPr>
        <p:spPr>
          <a:xfrm>
            <a:off x="428244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3" name="Google Shape;103;p27"/>
          <p:cNvSpPr txBox="1"/>
          <p:nvPr>
            <p:ph idx="3" type="body"/>
          </p:nvPr>
        </p:nvSpPr>
        <p:spPr>
          <a:xfrm>
            <a:off x="457200" y="2214562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4" name="Google Shape;104;p27"/>
          <p:cNvSpPr txBox="1"/>
          <p:nvPr>
            <p:ph idx="4" type="body"/>
          </p:nvPr>
        </p:nvSpPr>
        <p:spPr>
          <a:xfrm>
            <a:off x="457200" y="4224973"/>
            <a:ext cx="3566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8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28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29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9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9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8" name="Google Shape;118;p30"/>
          <p:cNvSpPr txBox="1"/>
          <p:nvPr>
            <p:ph type="title"/>
          </p:nvPr>
        </p:nvSpPr>
        <p:spPr>
          <a:xfrm>
            <a:off x="457199" y="995082"/>
            <a:ext cx="3566160" cy="10354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0"/>
          <p:cNvSpPr txBox="1"/>
          <p:nvPr>
            <p:ph idx="1" type="body"/>
          </p:nvPr>
        </p:nvSpPr>
        <p:spPr>
          <a:xfrm>
            <a:off x="4762052" y="990600"/>
            <a:ext cx="3566160" cy="513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 sz="1800"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 sz="18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0" name="Google Shape;120;p30"/>
          <p:cNvSpPr txBox="1"/>
          <p:nvPr>
            <p:ph idx="2" type="body"/>
          </p:nvPr>
        </p:nvSpPr>
        <p:spPr>
          <a:xfrm>
            <a:off x="457199" y="2057401"/>
            <a:ext cx="356616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1" name="Google Shape;121;p30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0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0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>
  <p:cSld name="Imagen con título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1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31"/>
          <p:cNvSpPr txBox="1"/>
          <p:nvPr>
            <p:ph type="title"/>
          </p:nvPr>
        </p:nvSpPr>
        <p:spPr>
          <a:xfrm>
            <a:off x="457199" y="995082"/>
            <a:ext cx="3566160" cy="10354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1" type="body"/>
          </p:nvPr>
        </p:nvSpPr>
        <p:spPr>
          <a:xfrm>
            <a:off x="457199" y="2057401"/>
            <a:ext cx="3566160" cy="3657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31"/>
          <p:cNvSpPr txBox="1"/>
          <p:nvPr>
            <p:ph idx="10" type="dt"/>
          </p:nvPr>
        </p:nvSpPr>
        <p:spPr>
          <a:xfrm>
            <a:off x="161365" y="6124016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1"/>
          <p:cNvSpPr txBox="1"/>
          <p:nvPr>
            <p:ph idx="11" type="ftr"/>
          </p:nvPr>
        </p:nvSpPr>
        <p:spPr>
          <a:xfrm>
            <a:off x="174812" y="6356352"/>
            <a:ext cx="38637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1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31"/>
          <p:cNvSpPr/>
          <p:nvPr>
            <p:ph idx="2" type="pic"/>
          </p:nvPr>
        </p:nvSpPr>
        <p:spPr>
          <a:xfrm>
            <a:off x="4760258" y="990600"/>
            <a:ext cx="4096512" cy="56118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encima del título" type="picTx">
  <p:cSld name="PICTURE_WITH_CAPTIO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2"/>
          <p:cNvSpPr/>
          <p:nvPr/>
        </p:nvSpPr>
        <p:spPr>
          <a:xfrm>
            <a:off x="7216776" y="268288"/>
            <a:ext cx="1639457" cy="3639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4" name="Google Shape;134;p32"/>
          <p:cNvSpPr txBox="1"/>
          <p:nvPr>
            <p:ph type="title"/>
          </p:nvPr>
        </p:nvSpPr>
        <p:spPr>
          <a:xfrm>
            <a:off x="458788" y="4267200"/>
            <a:ext cx="64770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2"/>
          <p:cNvSpPr/>
          <p:nvPr>
            <p:ph idx="2" type="pic"/>
          </p:nvPr>
        </p:nvSpPr>
        <p:spPr>
          <a:xfrm>
            <a:off x="269874" y="268288"/>
            <a:ext cx="6858000" cy="3639312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32"/>
          <p:cNvSpPr txBox="1"/>
          <p:nvPr>
            <p:ph idx="1" type="body"/>
          </p:nvPr>
        </p:nvSpPr>
        <p:spPr>
          <a:xfrm>
            <a:off x="458788" y="4840943"/>
            <a:ext cx="6475412" cy="1304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32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2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ágenes con título">
  <p:cSld name="4 imágenes con título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3"/>
          <p:cNvSpPr/>
          <p:nvPr/>
        </p:nvSpPr>
        <p:spPr>
          <a:xfrm>
            <a:off x="8135472" y="268288"/>
            <a:ext cx="720761" cy="36393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2" name="Google Shape;142;p33"/>
          <p:cNvSpPr txBox="1"/>
          <p:nvPr>
            <p:ph type="title"/>
          </p:nvPr>
        </p:nvSpPr>
        <p:spPr>
          <a:xfrm>
            <a:off x="458788" y="4267200"/>
            <a:ext cx="64770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entury Gothic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3"/>
          <p:cNvSpPr/>
          <p:nvPr>
            <p:ph idx="2" type="pic"/>
          </p:nvPr>
        </p:nvSpPr>
        <p:spPr>
          <a:xfrm>
            <a:off x="269874" y="268288"/>
            <a:ext cx="3006726" cy="3639312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3"/>
          <p:cNvSpPr txBox="1"/>
          <p:nvPr>
            <p:ph idx="1" type="body"/>
          </p:nvPr>
        </p:nvSpPr>
        <p:spPr>
          <a:xfrm>
            <a:off x="458788" y="4840943"/>
            <a:ext cx="6475412" cy="13042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5" name="Google Shape;145;p33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33"/>
          <p:cNvSpPr/>
          <p:nvPr>
            <p:ph idx="3" type="pic"/>
          </p:nvPr>
        </p:nvSpPr>
        <p:spPr>
          <a:xfrm>
            <a:off x="3352800" y="268290"/>
            <a:ext cx="4701988" cy="1775665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33"/>
          <p:cNvSpPr/>
          <p:nvPr>
            <p:ph idx="4" type="pic"/>
          </p:nvPr>
        </p:nvSpPr>
        <p:spPr>
          <a:xfrm>
            <a:off x="3352800" y="2131937"/>
            <a:ext cx="2304288" cy="1775665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3"/>
          <p:cNvSpPr/>
          <p:nvPr>
            <p:ph idx="5" type="pic"/>
          </p:nvPr>
        </p:nvSpPr>
        <p:spPr>
          <a:xfrm>
            <a:off x="5750500" y="2131937"/>
            <a:ext cx="2304288" cy="177566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4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34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4"/>
          <p:cNvSpPr txBox="1"/>
          <p:nvPr>
            <p:ph idx="1" type="body"/>
          </p:nvPr>
        </p:nvSpPr>
        <p:spPr>
          <a:xfrm rot="5400000">
            <a:off x="1753206" y="913795"/>
            <a:ext cx="3916363" cy="6508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34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4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4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0" name="Google Shape;160;p35"/>
          <p:cNvSpPr txBox="1"/>
          <p:nvPr>
            <p:ph type="title"/>
          </p:nvPr>
        </p:nvSpPr>
        <p:spPr>
          <a:xfrm rot="5400000">
            <a:off x="5659578" y="2919648"/>
            <a:ext cx="5090739" cy="13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5"/>
          <p:cNvSpPr txBox="1"/>
          <p:nvPr>
            <p:ph idx="1" type="body"/>
          </p:nvPr>
        </p:nvSpPr>
        <p:spPr>
          <a:xfrm rot="5400000">
            <a:off x="912206" y="580420"/>
            <a:ext cx="5109789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35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5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5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y 2 objetos" type="txAndTwoObj">
  <p:cSld name="TEXT_AND_TWO_OBJECTS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>
            <p:ph type="title"/>
          </p:nvPr>
        </p:nvSpPr>
        <p:spPr>
          <a:xfrm>
            <a:off x="838200" y="442913"/>
            <a:ext cx="7162800" cy="2547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6"/>
          <p:cNvSpPr txBox="1"/>
          <p:nvPr>
            <p:ph idx="1" type="body"/>
          </p:nvPr>
        </p:nvSpPr>
        <p:spPr>
          <a:xfrm>
            <a:off x="857251" y="1143000"/>
            <a:ext cx="3488267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36"/>
          <p:cNvSpPr txBox="1"/>
          <p:nvPr>
            <p:ph idx="2" type="body"/>
          </p:nvPr>
        </p:nvSpPr>
        <p:spPr>
          <a:xfrm>
            <a:off x="4548719" y="1143000"/>
            <a:ext cx="3490383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36"/>
          <p:cNvSpPr txBox="1"/>
          <p:nvPr>
            <p:ph idx="3" type="body"/>
          </p:nvPr>
        </p:nvSpPr>
        <p:spPr>
          <a:xfrm>
            <a:off x="4548719" y="3714750"/>
            <a:ext cx="3490383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800"/>
              </a:spcBef>
              <a:spcAft>
                <a:spcPts val="0"/>
              </a:spcAft>
              <a:buSzPts val="1800"/>
              <a:buChar char="◼"/>
              <a:defRPr/>
            </a:lvl1pPr>
            <a:lvl2pPr indent="-342900" lvl="1" marL="9144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3pPr>
            <a:lvl4pPr indent="-342900" lvl="3" marL="18288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4pPr>
            <a:lvl5pPr indent="-342900" lvl="4" marL="2286000" algn="l">
              <a:spcBef>
                <a:spcPts val="600"/>
              </a:spcBef>
              <a:spcAft>
                <a:spcPts val="0"/>
              </a:spcAft>
              <a:buSzPts val="1800"/>
              <a:buChar char="◼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23" Type="http://schemas.openxmlformats.org/officeDocument/2006/relationships/theme" Target="../theme/theme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199" y="2209802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◼"/>
              <a:defRPr b="0" i="0" sz="20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0E4366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429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0E4366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2900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100" u="none" cap="none" strike="noStrike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256494" y="361018"/>
            <a:ext cx="5065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2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ile:UNAL Aplicación Manizales.svg - Wikimedia Commons" id="15" name="Google Shape;15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199" y="111479"/>
            <a:ext cx="1821392" cy="80292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vrestrepoo@unal.edu.co" TargetMode="External"/><Relationship Id="rId4" Type="http://schemas.openxmlformats.org/officeDocument/2006/relationships/hyperlink" Target="mailto:dmejiari@unal.edu.c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hyperlink" Target="https://drive.google.com/file/d/1GOXFnHvFd2kgneaBJ0MGVa5pah5vlf2L/view?usp=sharing" TargetMode="External"/><Relationship Id="rId9" Type="http://schemas.openxmlformats.org/officeDocument/2006/relationships/hyperlink" Target="https://drive.google.com/file/d/1GOXFnHvFd2kgneaBJ0MGVa5pah5vlf2L/view?usp=drive_link" TargetMode="External"/><Relationship Id="rId5" Type="http://schemas.openxmlformats.org/officeDocument/2006/relationships/hyperlink" Target="https://drive.google.com/file/d/1GOXFnHvFd2kgneaBJ0MGVa5pah5vlf2L/view?usp=sharing" TargetMode="External"/><Relationship Id="rId6" Type="http://schemas.openxmlformats.org/officeDocument/2006/relationships/hyperlink" Target="https://drive.google.com/file/d/10gWbnLquooKBg9JQO2_4Ac9PM4OL5DAT/view?usp=sharing" TargetMode="External"/><Relationship Id="rId7" Type="http://schemas.openxmlformats.org/officeDocument/2006/relationships/hyperlink" Target="https://github.com/DmejiariUnal8313/Sistemas_Inteligentes_Vanessa_Daniel" TargetMode="External"/><Relationship Id="rId8" Type="http://schemas.openxmlformats.org/officeDocument/2006/relationships/hyperlink" Target="https://drive.google.com/file/d/1GOXFnHvFd2kgneaBJ0MGVa5pah5vlf2L/view?usp=drive_link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file/d/1ZZIPZJd3NkhYLK3xJ-Bd45hz9z1DXP1k/view?usp=drive_link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drive.google.com/file/d/1ZZIPZJd3NkhYLK3xJ-Bd45hz9z1DXP1k/view?usp=drive_link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hyperlink" Target="mailto:vrestrepoo@unal.edu.co" TargetMode="External"/><Relationship Id="rId5" Type="http://schemas.openxmlformats.org/officeDocument/2006/relationships/hyperlink" Target="mailto:dmejiari@unal.edu.co" TargetMode="External"/><Relationship Id="rId6" Type="http://schemas.openxmlformats.org/officeDocument/2006/relationships/hyperlink" Target="https://drive.google.com/drive/folders/1mdHG2-jVRCmLP5vrzjvtdu5BKdya-acr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"/>
          <p:cNvSpPr txBox="1"/>
          <p:nvPr>
            <p:ph idx="1" type="subTitle"/>
          </p:nvPr>
        </p:nvSpPr>
        <p:spPr>
          <a:xfrm>
            <a:off x="3200400" y="5257800"/>
            <a:ext cx="5458968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75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r>
              <a:rPr lang="en-US" sz="1400">
                <a:solidFill>
                  <a:srgbClr val="000000"/>
                </a:solidFill>
              </a:rPr>
              <a:t>Vanessa Restrepo Obando, </a:t>
            </a:r>
            <a:r>
              <a:rPr lang="en-US" sz="1400" u="sng">
                <a:solidFill>
                  <a:schemeClr val="hlink"/>
                </a:solidFill>
                <a:hlinkClick r:id="rId3"/>
              </a:rPr>
              <a:t>vrestrepoo@unal.edu.co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r>
              <a:rPr lang="en-US" sz="1400">
                <a:solidFill>
                  <a:srgbClr val="000000"/>
                </a:solidFill>
              </a:rPr>
              <a:t>Daniel Felipe Mejia Rios, </a:t>
            </a:r>
            <a:r>
              <a:rPr lang="en-US" sz="1400" u="sng">
                <a:solidFill>
                  <a:schemeClr val="hlink"/>
                </a:solidFill>
                <a:hlinkClick r:id="rId4"/>
              </a:rPr>
              <a:t>dmejiari@unal.edu.co</a:t>
            </a:r>
            <a:r>
              <a:rPr lang="en-US" sz="1400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3535963" y="474085"/>
            <a:ext cx="5123400" cy="3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Tutorial: Sistema Inteligente de Automatización Logística para Gestión de Pedidos e Inventario mediante N8n, LangChain y Modelos de Lenguaje </a:t>
            </a:r>
            <a:endParaRPr b="1" i="0" sz="28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384048" y="5998974"/>
            <a:ext cx="2606040" cy="713232"/>
          </a:xfrm>
          <a:prstGeom prst="rect">
            <a:avLst/>
          </a:prstGeom>
          <a:solidFill>
            <a:srgbClr val="EA4B71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475488" y="602640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1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9" name="Google Shape;179;p1"/>
          <p:cNvSpPr/>
          <p:nvPr/>
        </p:nvSpPr>
        <p:spPr>
          <a:xfrm>
            <a:off x="475488" y="627329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ECC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FFEECC"/>
                </a:solidFill>
                <a:latin typeface="Calibri"/>
                <a:ea typeface="Calibri"/>
                <a:cs typeface="Calibri"/>
                <a:sym typeface="Calibri"/>
              </a:rPr>
              <a:t>N8n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p1"/>
          <p:cNvSpPr/>
          <p:nvPr/>
        </p:nvSpPr>
        <p:spPr>
          <a:xfrm>
            <a:off x="3218688" y="5998974"/>
            <a:ext cx="2606040" cy="713232"/>
          </a:xfrm>
          <a:prstGeom prst="rect">
            <a:avLst/>
          </a:prstGeom>
          <a:solidFill>
            <a:srgbClr val="27A99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3310128" y="602640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2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3310128" y="627329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ECC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FFEECC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6053328" y="5998974"/>
            <a:ext cx="2606040" cy="713232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6144768" y="6026406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3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5" name="Google Shape;185;p1"/>
          <p:cNvSpPr/>
          <p:nvPr/>
        </p:nvSpPr>
        <p:spPr>
          <a:xfrm>
            <a:off x="6144768" y="627329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EECC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FFEECC"/>
                </a:solidFill>
                <a:latin typeface="Calibri"/>
                <a:ea typeface="Calibri"/>
                <a:cs typeface="Calibri"/>
                <a:sym typeface="Calibri"/>
              </a:rPr>
              <a:t>Racionalidad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"/>
          <p:cNvSpPr txBox="1"/>
          <p:nvPr>
            <p:ph type="title"/>
          </p:nvPr>
        </p:nvSpPr>
        <p:spPr>
          <a:xfrm>
            <a:off x="1628663" y="519366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Agenda</a:t>
            </a:r>
            <a:br>
              <a:rPr lang="en-US"/>
            </a:br>
            <a:endParaRPr/>
          </a:p>
        </p:txBody>
      </p:sp>
      <p:sp>
        <p:nvSpPr>
          <p:cNvPr id="191" name="Google Shape;191;p2"/>
          <p:cNvSpPr txBox="1"/>
          <p:nvPr>
            <p:ph idx="1" type="body"/>
          </p:nvPr>
        </p:nvSpPr>
        <p:spPr>
          <a:xfrm>
            <a:off x="2230581" y="1470818"/>
            <a:ext cx="6508377" cy="3916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Definición</a:t>
            </a:r>
            <a:endParaRPr/>
          </a:p>
          <a:p>
            <a:pPr indent="-228600" lvl="0" marL="228600" rtl="0" algn="l">
              <a:spcBef>
                <a:spcPts val="1800"/>
              </a:spcBef>
              <a:spcAft>
                <a:spcPts val="0"/>
              </a:spcAft>
              <a:buSzPts val="2000"/>
              <a:buChar char="◼"/>
            </a:pPr>
            <a:r>
              <a:rPr lang="en-US"/>
              <a:t>Ejemplo</a:t>
            </a:r>
            <a:endParaRPr/>
          </a:p>
          <a:p>
            <a:pPr indent="-101600" lvl="0" marL="228600" rtl="0" algn="l">
              <a:spcBef>
                <a:spcPts val="1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"/>
          <p:cNvSpPr txBox="1"/>
          <p:nvPr>
            <p:ph type="title"/>
          </p:nvPr>
        </p:nvSpPr>
        <p:spPr>
          <a:xfrm>
            <a:off x="2438425" y="1024573"/>
            <a:ext cx="65083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entury Gothic"/>
              <a:buNone/>
            </a:pPr>
            <a:r>
              <a:rPr lang="en-US"/>
              <a:t>Introducción</a:t>
            </a:r>
            <a:br>
              <a:rPr lang="en-US"/>
            </a:b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483950" y="1754050"/>
            <a:ext cx="8381400" cy="4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 transformación digital ha impulsado la adopción de sistemas inteligentes capaces de automatizar procesos operativos mediante la integración de inteligencia artificial y plataformas de orquestación de servicios. En el ámbito logístico, estas tecnologías permiten optimizar la gestión de pedidos, el control de inventario y la atención a clientes en tiempo real.</a:t>
            </a:r>
            <a:endParaRPr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 presente proyecto implementa un asistente logístico inteligente que opera a través de Telegram y utiliza modelos de lenguaje para comprender solicitudes escritas por los usuarios. El sistema es capaz de identificar intenciones, validar información relevante, consultar inventarios y registrar pedidos automáticamente en Google Sheets.</a:t>
            </a:r>
            <a:endParaRPr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"/>
          <p:cNvSpPr/>
          <p:nvPr/>
        </p:nvSpPr>
        <p:spPr>
          <a:xfrm>
            <a:off x="0" y="1008668"/>
            <a:ext cx="8757501" cy="53438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274320" y="857250"/>
            <a:ext cx="8595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|  Justificación del Proyecto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Especializacion </a:t>
            </a: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en Inteligencia Artificial — UNAL Sede Manizales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320040" y="1680210"/>
            <a:ext cx="8503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¿Por qué es relevante este proyecto?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274320" y="2155698"/>
            <a:ext cx="278892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274320" y="2155698"/>
            <a:ext cx="27889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365760" y="215569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Problema identificado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365760" y="2576322"/>
            <a:ext cx="2606040" cy="278892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438912" y="2631186"/>
            <a:ext cx="2459736" cy="2679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Los procesos logísticos suelen requerir la gestión constante de pedidos, consultas de inventario y atención a usuarios. Cuando estas actividades se realizan manualmente, pueden presentarse errores en el registro de información, retrasos en la respuesta a los clientes y dificultades para mantener actualizados los datos de inventario. </a:t>
            </a:r>
            <a:endParaRPr sz="1200"/>
          </a:p>
        </p:txBody>
      </p:sp>
      <p:sp>
        <p:nvSpPr>
          <p:cNvPr id="213" name="Google Shape;213;p4"/>
          <p:cNvSpPr/>
          <p:nvPr/>
        </p:nvSpPr>
        <p:spPr>
          <a:xfrm>
            <a:off x="3246120" y="2155698"/>
            <a:ext cx="278892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3246120" y="2155698"/>
            <a:ext cx="27889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3337560" y="215569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 Propuesta de solución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3337560" y="2576322"/>
            <a:ext cx="2606040" cy="278892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3410712" y="2631186"/>
            <a:ext cx="2459736" cy="2679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Se desarrolló un sistema inteligente de automatización logística utilizando N8n, Telegram, Google Sheets y modelos de lenguaje basados en inteligencia artificial. El sistema recibe solicitudes en lenguaje natural, identifica automáticamente la intención del usuario, valida información de inventario, registra pedidos y genera respuestas en tiempo real, mejorando la eficiencia del proceso logístico. </a:t>
            </a:r>
            <a:endParaRPr sz="1200"/>
          </a:p>
        </p:txBody>
      </p:sp>
      <p:sp>
        <p:nvSpPr>
          <p:cNvPr id="218" name="Google Shape;218;p4"/>
          <p:cNvSpPr/>
          <p:nvPr/>
        </p:nvSpPr>
        <p:spPr>
          <a:xfrm>
            <a:off x="6217920" y="2155698"/>
            <a:ext cx="2788920" cy="3291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6217920" y="2155698"/>
            <a:ext cx="2788920" cy="347472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6309360" y="2155698"/>
            <a:ext cx="2606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🏫  Relevancia académica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6309360" y="2576322"/>
            <a:ext cx="2606040" cy="278892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6382512" y="2631186"/>
            <a:ext cx="2459700" cy="26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Este proyecto integra conocimientos de Sistemas Inteligentes Computacionales, automatización de procesos, agentes inteligentes, procesamiento de lenguaje natural y modelos de inteligencia artificial generativa. Además, permite aplicar conceptos teóricos en un caso práctico real, demostrando cómo las tecnologías inteligentes pueden utilizarse para resolver problemas empresariales y logísticos de manera eficiente 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"/>
          <p:cNvSpPr/>
          <p:nvPr/>
        </p:nvSpPr>
        <p:spPr>
          <a:xfrm>
            <a:off x="182880" y="989838"/>
            <a:ext cx="8778240" cy="50292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457200" y="989838"/>
            <a:ext cx="825154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|  N8n — Descripción del Flujo de Automatización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 en Inteligencia Artificial — UNAL Sede Manizales   |   NIVEL 1 — hasta 3.5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1  ≤ 3.5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274320" y="1698498"/>
            <a:ext cx="502920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411480" y="177165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🔄  Descripción del Pipeline N8n</a:t>
            </a:r>
            <a:endParaRPr sz="11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365760" y="2256282"/>
            <a:ext cx="384048" cy="384048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365760" y="225628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822960" y="2237994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TRIGGER / ENTRADA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22960" y="2512314"/>
            <a:ext cx="4297680" cy="621792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365760" y="3371850"/>
            <a:ext cx="384048" cy="384048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365760" y="337185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822960" y="335356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PROCESAMIENTO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822960" y="3627882"/>
            <a:ext cx="4297680" cy="621792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822962" y="3586146"/>
            <a:ext cx="4151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flujo utiliza Google Gemini 2.5 Flash para interpretar el mensaje recibido, identificar la intención del usuario y extraer información relevante. Posteriormente se emplean nodos de procesamiento para estructurar los datos, validar disponibilidad de inventario y decidir la acción correspondiente mediante condiciones lógicas. 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365760" y="4487418"/>
            <a:ext cx="384048" cy="384048"/>
          </a:xfrm>
          <a:prstGeom prst="ellipse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365760" y="448741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822960" y="446913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SALIDA / ACCIÓN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822960" y="4743450"/>
            <a:ext cx="4297680" cy="621792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896112" y="4798314"/>
            <a:ext cx="4151376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pedidos son registrados automáticamente en Google Sheets y el usuario recibe una respuesta inmediata a través de Telegram con la confirmación o resultado de la consulta. 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5532120" y="1698498"/>
            <a:ext cx="3337560" cy="2194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5532120" y="1698498"/>
            <a:ext cx="3337560" cy="34747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5623560" y="169849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📸  Captura del Workflow en N8n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5696712" y="2155698"/>
            <a:ext cx="3008376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5532120" y="4039362"/>
            <a:ext cx="3337560" cy="163677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5532120" y="4039362"/>
            <a:ext cx="3337560" cy="34747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5623560" y="4039362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Métricas Generales del Flujo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5669280" y="4469130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N.° de nodos activos: 10 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5669280" y="4725162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Tipo de trigger: </a:t>
            </a: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Telegram Trigger 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5669280" y="4981194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Tiempo promedio de ejecución: </a:t>
            </a: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 – 4 segundos 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5669280" y="5237226"/>
            <a:ext cx="31089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Tasa de éxito en pruebas:  100%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0" name="Google Shape;260;p5"/>
          <p:cNvSpPr txBox="1"/>
          <p:nvPr/>
        </p:nvSpPr>
        <p:spPr>
          <a:xfrm>
            <a:off x="4583150" y="371325"/>
            <a:ext cx="459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822950" y="2522525"/>
            <a:ext cx="4297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Telegram Trigger: Recibe mensajes enviados por los usuarios desde Telegram para realizar consultas de inventario, registrar pedidos o solicitar información logística. </a:t>
            </a:r>
            <a:endParaRPr sz="1100"/>
          </a:p>
        </p:txBody>
      </p:sp>
      <p:pic>
        <p:nvPicPr>
          <p:cNvPr id="262" name="Google Shape;262;p5" title="WhatsApp Image 2026-06-03 at 2.55.37 PM.jpeg"/>
          <p:cNvPicPr preferRelativeResize="0"/>
          <p:nvPr/>
        </p:nvPicPr>
        <p:blipFill rotWithShape="1">
          <a:blip r:embed="rId3">
            <a:alphaModFix/>
          </a:blip>
          <a:srcRect b="0" l="3428" r="3428" t="0"/>
          <a:stretch/>
        </p:blipFill>
        <p:spPr>
          <a:xfrm>
            <a:off x="5646412" y="2418963"/>
            <a:ext cx="3108976" cy="11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"/>
          <p:cNvSpPr/>
          <p:nvPr/>
        </p:nvSpPr>
        <p:spPr>
          <a:xfrm>
            <a:off x="91440" y="944694"/>
            <a:ext cx="8961120" cy="593208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365760" y="944694"/>
            <a:ext cx="8423453" cy="593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|  N8n — Paso a Paso: Creación del Flujo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7797" y="5932746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182880" y="5936733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</a:t>
            </a: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ión </a:t>
            </a: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en Inteligencia Artificial — UNAL Sede Manizales   |   </a:t>
            </a: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NIVEL 1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1  ≤ 3.5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274320" y="168021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6"/>
          <p:cNvSpPr/>
          <p:nvPr/>
        </p:nvSpPr>
        <p:spPr>
          <a:xfrm>
            <a:off x="274320" y="1680210"/>
            <a:ext cx="4160520" cy="292608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384048" y="215569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384048" y="215569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365760" y="168021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1: Instalar / Acceder a N8n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841248" y="2027682"/>
            <a:ext cx="3429000" cy="79552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914400" y="2082546"/>
            <a:ext cx="32826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utilizó N8n Cloud para desarrollar y ejecutar los flujos de automatización del proyecto. 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4709160" y="168021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4709160" y="1680210"/>
            <a:ext cx="4160520" cy="292608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p6"/>
          <p:cNvSpPr/>
          <p:nvPr/>
        </p:nvSpPr>
        <p:spPr>
          <a:xfrm>
            <a:off x="4818888" y="215569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4818888" y="215569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4800600" y="168021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2: Crear nuevo Workflow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5276088" y="2027682"/>
            <a:ext cx="3429000" cy="79552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6"/>
          <p:cNvSpPr/>
          <p:nvPr/>
        </p:nvSpPr>
        <p:spPr>
          <a:xfrm>
            <a:off x="5349240" y="2082546"/>
            <a:ext cx="32826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000">
                <a:solidFill>
                  <a:schemeClr val="dk1"/>
                </a:solidFill>
              </a:rPr>
              <a:t>Se creó el workflow denominado:</a:t>
            </a:r>
            <a:r>
              <a:rPr b="1" lang="en-US" sz="1000">
                <a:solidFill>
                  <a:schemeClr val="dk1"/>
                </a:solidFill>
              </a:rPr>
              <a:t>"Asistente Inteligente de Gestión Logística"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</a:rPr>
              <a:t>orientado a la administración de pedidos e inventario.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274320" y="309753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274320" y="3097530"/>
            <a:ext cx="4160520" cy="292608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384048" y="357301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384048" y="357301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365760" y="309753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3: Configurar el Trigger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841248" y="3445002"/>
            <a:ext cx="3429000" cy="79552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914400" y="3499866"/>
            <a:ext cx="32826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 configuró un nodo Telegram Trigger conectado al bot de Telegram para recibir mensajes de los usuarios en tiempo real.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709160" y="309753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4709160" y="3097530"/>
            <a:ext cx="4160520" cy="292608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818888" y="357301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4818888" y="357301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800600" y="309753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4: Agregar nodos de procesamiento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p6"/>
          <p:cNvSpPr/>
          <p:nvPr/>
        </p:nvSpPr>
        <p:spPr>
          <a:xfrm>
            <a:off x="5276088" y="3445002"/>
            <a:ext cx="3429000" cy="79560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5276100" y="347245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incorporaron los siguientes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nodos Telegram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Trigger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Gemini Chat Model-Memory Buffer-Structured Output Parser-Agent IA-Switch- IF-Google Sheets-Telegram Response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274320" y="451485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274320" y="4514850"/>
            <a:ext cx="4160520" cy="292608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384048" y="499033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384048" y="499033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365760" y="4510275"/>
            <a:ext cx="397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5: Configurar salida y pruebas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841248" y="4862322"/>
            <a:ext cx="3429000" cy="79552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841250" y="4823461"/>
            <a:ext cx="3282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configuró Google Sheets para almacenar pedidos y Telegram para enviar respuestas automáticas.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realizaron pruebas de: consulta de inventario,registro de pedidos y validación de stock</a:t>
            </a:r>
            <a:endParaRPr i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4709160" y="4514850"/>
            <a:ext cx="4160520" cy="12984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4709160" y="4514850"/>
            <a:ext cx="4160520" cy="292608"/>
          </a:xfrm>
          <a:prstGeom prst="rect">
            <a:avLst/>
          </a:prstGeom>
          <a:solidFill>
            <a:srgbClr val="C03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4818888" y="4990338"/>
            <a:ext cx="384048" cy="384048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4818888" y="499033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3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800600" y="451485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Paso 6: Activar y monitorear el flujo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5276088" y="4862322"/>
            <a:ext cx="3429000" cy="79552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5349240" y="4917186"/>
            <a:ext cx="32826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workflow fue activado en modo producción y se verificó el correcto funcionamiento mediante pruebas de interacción desde Telegram. 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7" title="Captura de pantalla 2026-06-03 1448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2240575"/>
            <a:ext cx="4206226" cy="17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7"/>
          <p:cNvSpPr/>
          <p:nvPr/>
        </p:nvSpPr>
        <p:spPr>
          <a:xfrm>
            <a:off x="182880" y="1040130"/>
            <a:ext cx="8961120" cy="502920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3" name="Google Shape;323;p7"/>
          <p:cNvSpPr/>
          <p:nvPr/>
        </p:nvSpPr>
        <p:spPr>
          <a:xfrm>
            <a:off x="457200" y="1040130"/>
            <a:ext cx="8423453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 |  N8n — Video de Demostración y JSON del Flujo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4" name="Google Shape;324;p7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</a:t>
            </a: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en Inteligencia Artificial — UNAL Sede Manizales   |   NIVEL 1 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1  ≤ 3.5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8" name="Google Shape;328;p7"/>
          <p:cNvSpPr/>
          <p:nvPr/>
        </p:nvSpPr>
        <p:spPr>
          <a:xfrm>
            <a:off x="274320" y="1698498"/>
            <a:ext cx="4206240" cy="3017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9" name="Google Shape;329;p7"/>
          <p:cNvSpPr/>
          <p:nvPr/>
        </p:nvSpPr>
        <p:spPr>
          <a:xfrm>
            <a:off x="274320" y="1698498"/>
            <a:ext cx="4206240" cy="384048"/>
          </a:xfrm>
          <a:prstGeom prst="rect">
            <a:avLst/>
          </a:prstGeom>
          <a:solidFill>
            <a:srgbClr val="EA4B7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365760" y="1698498"/>
            <a:ext cx="4023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🎬  Video:  Ejecución del Flujo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p7">
            <a:hlinkClick r:id="rId4"/>
          </p:cNvPr>
          <p:cNvSpPr/>
          <p:nvPr/>
        </p:nvSpPr>
        <p:spPr>
          <a:xfrm>
            <a:off x="-2057515" y="4167398"/>
            <a:ext cx="40233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365760" y="5017770"/>
            <a:ext cx="4023360" cy="530352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438912" y="5022359"/>
            <a:ext cx="387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🔗  URL del video: [</a:t>
            </a:r>
            <a:r>
              <a:rPr i="1" lang="en-US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https://drive.google.com/file/d/1GOXFnHvFd2kgneaBJ0MGVa5pah5vlf2L/view?usp=sharing</a:t>
            </a: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0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4754880" y="1698498"/>
            <a:ext cx="4114800" cy="3977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4754880" y="1698498"/>
            <a:ext cx="4114800" cy="38404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4846320" y="1698498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EA4B71"/>
                </a:solidFill>
                <a:latin typeface="Calibri"/>
                <a:ea typeface="Calibri"/>
                <a:cs typeface="Calibri"/>
                <a:sym typeface="Calibri"/>
              </a:rPr>
              <a:t>{ }  JSON del Flujo N8n</a:t>
            </a:r>
            <a:endParaRPr sz="10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7" name="Google Shape;337;p7"/>
          <p:cNvSpPr/>
          <p:nvPr/>
        </p:nvSpPr>
        <p:spPr>
          <a:xfrm>
            <a:off x="4846320" y="2137410"/>
            <a:ext cx="3931920" cy="2560320"/>
          </a:xfrm>
          <a:prstGeom prst="rect">
            <a:avLst/>
          </a:prstGeom>
          <a:solidFill>
            <a:srgbClr val="1E1E1E"/>
          </a:solidFill>
          <a:ln cap="flat" cmpd="sng" w="10150">
            <a:solidFill>
              <a:srgbClr val="EA4B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8" name="Google Shape;338;p7"/>
          <p:cNvSpPr/>
          <p:nvPr/>
        </p:nvSpPr>
        <p:spPr>
          <a:xfrm>
            <a:off x="4937760" y="2228850"/>
            <a:ext cx="37491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9ABDF5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9ABDF5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7AA2F7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9ECE6A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logistic_automatization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650">
              <a:solidFill>
                <a:srgbClr val="89DDFF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7AA2F7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nodes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9ABDF5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650">
              <a:solidFill>
                <a:srgbClr val="9ABDF5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650">
                <a:solidFill>
                  <a:srgbClr val="9ABDF5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9ABDF5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2AC3DE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parameters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9ABDF5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9ABDF5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7DCF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modelName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9ECE6A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models/gemini-2.5-flash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650">
              <a:solidFill>
                <a:srgbClr val="89DDFF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7DCF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options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9ABDF5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{}</a:t>
            </a:r>
            <a:endParaRPr sz="650">
              <a:solidFill>
                <a:srgbClr val="9ABDF5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650">
                <a:solidFill>
                  <a:srgbClr val="9ABDF5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89DDFF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2AC3DE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9ECE6A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@n8n/n8n-nodes-langchain.lmChatGoogleGemini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650">
              <a:solidFill>
                <a:srgbClr val="89DDFF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2AC3DE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typeVersion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FF9E64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1.1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89DDFF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2AC3DE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9ABDF5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650">
              <a:solidFill>
                <a:srgbClr val="9ABDF5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650">
                <a:solidFill>
                  <a:srgbClr val="FF9E64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64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89DDFF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650">
                <a:solidFill>
                  <a:srgbClr val="FF9E64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208</a:t>
            </a:r>
            <a:endParaRPr sz="650">
              <a:solidFill>
                <a:srgbClr val="FF9E64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650">
                <a:solidFill>
                  <a:srgbClr val="9ABDF5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89DDFF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2AC3DE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9ECE6A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2824f7d2-e5a5-41ad-bce3-e7575063008d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650">
              <a:solidFill>
                <a:srgbClr val="89DDFF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2AC3DE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9ECE6A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Google Gemini Chat Model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",</a:t>
            </a:r>
            <a:endParaRPr sz="650">
              <a:solidFill>
                <a:srgbClr val="89DDFF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lang="en-US" sz="650">
                <a:solidFill>
                  <a:srgbClr val="2AC3DE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credentials</a:t>
            </a:r>
            <a:r>
              <a:rPr lang="en-US" sz="650">
                <a:solidFill>
                  <a:srgbClr val="89DDFF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":</a:t>
            </a: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9ABDF5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650">
              <a:solidFill>
                <a:srgbClr val="9ABDF5"/>
              </a:solidFill>
              <a:highlight>
                <a:srgbClr val="24283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A9B1D6"/>
                </a:solidFill>
                <a:highlight>
                  <a:srgbClr val="24283B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endParaRPr i="1" sz="1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4846325" y="4842672"/>
            <a:ext cx="3840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  link JSON: </a:t>
            </a:r>
            <a:r>
              <a:rPr i="1" lang="en-US" sz="8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https://drive.google.com/file/d/10gWbnLquooKBg9JQO2_4Ac9PM4OL5DAT/view?usp=sharing</a:t>
            </a:r>
            <a:r>
              <a:rPr i="1" lang="en-US" sz="85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4846325" y="5228071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→  link GitHub: </a:t>
            </a:r>
            <a:r>
              <a:rPr i="1" lang="en-US" sz="85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https://github.com/DmejiariUnal8313/Sistemas_Inteligentes_Vanessa_Daniel</a:t>
            </a:r>
            <a:r>
              <a:rPr i="1" lang="en-US" sz="85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41" name="Google Shape;341;p7" title="Captura de pantalla 2026-06-03 1448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5" y="2137400"/>
            <a:ext cx="4206226" cy="2468949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7">
            <a:hlinkClick r:id="rId8"/>
          </p:cNvPr>
          <p:cNvSpPr/>
          <p:nvPr/>
        </p:nvSpPr>
        <p:spPr>
          <a:xfrm>
            <a:off x="365860" y="2585498"/>
            <a:ext cx="40233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9"/>
              </a:rPr>
              <a:t>▶</a:t>
            </a:r>
            <a:endParaRPr sz="4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8"/>
          <p:cNvSpPr/>
          <p:nvPr/>
        </p:nvSpPr>
        <p:spPr>
          <a:xfrm>
            <a:off x="60251" y="1026882"/>
            <a:ext cx="9023498" cy="529413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334571" y="1026882"/>
            <a:ext cx="8482088" cy="529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 |  LangChain — Arquitectura del Sistema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60251" y="6270498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182880" y="6270498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UNAL Sede Manizales   |   NIVEL 2 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2  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-1157955" y="1650215"/>
            <a:ext cx="8595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7A99E"/>
                </a:solidFill>
                <a:latin typeface="Calibri"/>
                <a:ea typeface="Calibri"/>
                <a:cs typeface="Calibri"/>
                <a:sym typeface="Calibri"/>
              </a:rPr>
              <a:t>Componentes Principales de la Implementació</a:t>
            </a:r>
            <a:endParaRPr sz="1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274320" y="2064258"/>
            <a:ext cx="4160520" cy="1719072"/>
          </a:xfrm>
          <a:prstGeom prst="rect">
            <a:avLst/>
          </a:prstGeom>
          <a:solidFill>
            <a:srgbClr val="1A4A6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274320" y="2064258"/>
            <a:ext cx="4160520" cy="36576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365760" y="206425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🧠  LLM — Modelo de Lenguaje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365760" y="2484882"/>
            <a:ext cx="3977640" cy="120700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438912" y="2539746"/>
            <a:ext cx="3831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Gemini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00">
                <a:solidFill>
                  <a:schemeClr val="dk1"/>
                </a:solidFill>
              </a:rPr>
              <a:t>Configuración: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Modelo: Gemini 2.5 Flash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Temperature: 0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6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4709160" y="2064258"/>
            <a:ext cx="4160520" cy="1719072"/>
          </a:xfrm>
          <a:prstGeom prst="rect">
            <a:avLst/>
          </a:prstGeom>
          <a:solidFill>
            <a:srgbClr val="1A3A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4709160" y="2064258"/>
            <a:ext cx="4160520" cy="36576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4800600" y="206425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💬  ChatPromptTemplate — Plantilla de Prompts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4800600" y="2484882"/>
            <a:ext cx="3977640" cy="120700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4873752" y="2539746"/>
            <a:ext cx="3831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System Message: </a:t>
            </a:r>
            <a:r>
              <a:rPr lang="en-US" sz="800">
                <a:solidFill>
                  <a:schemeClr val="dk1"/>
                </a:solidFill>
              </a:rPr>
              <a:t>Eres un asistente logístico especializado en gestión de pedidos e inventarios.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Human Template: </a:t>
            </a:r>
            <a:r>
              <a:rPr lang="en-US" sz="800">
                <a:solidFill>
                  <a:schemeClr val="dk1"/>
                </a:solidFill>
              </a:rPr>
              <a:t>Analiza la solicitud del usuario y determina la acción a ejecutar.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Variables de entrada: </a:t>
            </a:r>
            <a:r>
              <a:rPr lang="en-US" sz="800">
                <a:solidFill>
                  <a:schemeClr val="dk1"/>
                </a:solidFill>
              </a:rPr>
              <a:t>consulta_usuario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5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274320" y="3938778"/>
            <a:ext cx="4160520" cy="1719072"/>
          </a:xfrm>
          <a:prstGeom prst="rect">
            <a:avLst/>
          </a:prstGeom>
          <a:solidFill>
            <a:srgbClr val="0E4D4D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274320" y="3938778"/>
            <a:ext cx="4160520" cy="36576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365760" y="393877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🔧  Tools — Herramientas del Agente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365760" y="4359402"/>
            <a:ext cx="3977640" cy="120700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438912" y="4414266"/>
            <a:ext cx="3831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</a:rPr>
              <a:t>Base de datos- API externa- Custom Tool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</a:rPr>
              <a:t>Justificación</a:t>
            </a:r>
            <a:endParaRPr b="1"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</a:rPr>
              <a:t>Las herramientas permiten consultar inventario, registrar pedidos y acceder a información logística para responder adecuadamente a las solicitudes.</a:t>
            </a:r>
            <a:endParaRPr sz="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5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4709160" y="3938778"/>
            <a:ext cx="4160520" cy="1719072"/>
          </a:xfrm>
          <a:prstGeom prst="rect">
            <a:avLst/>
          </a:prstGeom>
          <a:solidFill>
            <a:srgbClr val="3D1A6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4709160" y="3938778"/>
            <a:ext cx="4160520" cy="36576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4800600" y="3938778"/>
            <a:ext cx="3977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🔗  Chain / Agent — Cadena de Razonamiento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4800600" y="4359402"/>
            <a:ext cx="3977640" cy="120700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4873752" y="4414266"/>
            <a:ext cx="383133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AgentExecutor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>
                <a:solidFill>
                  <a:schemeClr val="dk1"/>
                </a:solidFill>
              </a:rPr>
              <a:t>El agente recibe la consulta, analiza la intención, consulta las herramientas necesarias, valida información y genera una respuesta estructurada.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6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9"/>
          <p:cNvSpPr/>
          <p:nvPr/>
        </p:nvSpPr>
        <p:spPr>
          <a:xfrm>
            <a:off x="0" y="956930"/>
            <a:ext cx="8961120" cy="58612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274320" y="956930"/>
            <a:ext cx="8423453" cy="58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 |  LangChain — Código, Chain of Thought y Persistencia (RAG)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0" y="6377940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82880" y="6377940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</a:t>
            </a: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 en Inteligencia Artificial — UNAL Sede Manizales   |   NIVEL 2 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4" name="Google Shape;384;p9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2  ≤ 4.5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274325" y="1661926"/>
            <a:ext cx="4846200" cy="467880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274320" y="1661922"/>
            <a:ext cx="4846320" cy="29260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8" name="Google Shape;388;p9"/>
          <p:cNvSpPr/>
          <p:nvPr/>
        </p:nvSpPr>
        <p:spPr>
          <a:xfrm>
            <a:off x="365760" y="1661922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🐍  Fragmento de Código — LangChain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365750" y="2000250"/>
            <a:ext cx="4663500" cy="42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99CC6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langchain_google_genai </a:t>
            </a:r>
            <a:r>
              <a:rPr lang="en-US" sz="650">
                <a:solidFill>
                  <a:srgbClr val="C99CC6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ChatGoogleGenerativeAI</a:t>
            </a:r>
            <a:endParaRPr sz="6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99CC6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langchain_core.prompts </a:t>
            </a:r>
            <a:r>
              <a:rPr lang="en-US" sz="650">
                <a:solidFill>
                  <a:srgbClr val="C99CC6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ChatPromptTemplate</a:t>
            </a:r>
            <a:endParaRPr sz="6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6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llm = ChatGoogleGenerativeAI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6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model=</a:t>
            </a: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"gemini-2.5-flash"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temperature=</a:t>
            </a:r>
            <a:r>
              <a:rPr lang="en-US" sz="650">
                <a:solidFill>
                  <a:srgbClr val="B5CEA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6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6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structured_llm = llm.with_structured_output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IntentOutput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6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prompt = ChatPromptTemplate.from_messages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([</a:t>
            </a:r>
            <a:endParaRPr sz="6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"system"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Eres un asistente de logística que recibe mensajes por Telegram.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Debes identificar la intención del usuario y devolver únicamente un objeto estructurado.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6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Reglas: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- intencion solo puede ser: crear_pedido, consultar_estado, saludo, otro.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- Si el usuario quiere comprar o pedir un producto, usa crear_pedido.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- Si el usuario pregunta por el estado de un pedido, usa consultar_estado.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- Si solo saluda, usa saludo.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- Si no aplica ninguna, usa otro.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- producto_id debe verse como PROD-XXX si aparece.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- cantidad debe ser numérica.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- Si falta información, deja el campo vacío o en 0.</a:t>
            </a:r>
            <a:endParaRPr sz="650">
              <a:solidFill>
                <a:srgbClr val="CE9178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"""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sz="6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"human"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"Mensaje del usuario: {mensaje}"</a:t>
            </a: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6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DCDCDC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650">
              <a:solidFill>
                <a:srgbClr val="DCDCDC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6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classifier_chain = prompt | structured_llm</a:t>
            </a:r>
            <a:endParaRPr sz="650">
              <a:solidFill>
                <a:srgbClr val="D4D4D4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br>
              <a:rPr lang="en-US" sz="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0" name="Google Shape;390;p9"/>
          <p:cNvSpPr/>
          <p:nvPr/>
        </p:nvSpPr>
        <p:spPr>
          <a:xfrm>
            <a:off x="5349240" y="1661922"/>
            <a:ext cx="3520440" cy="18745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1" name="Google Shape;391;p9"/>
          <p:cNvSpPr/>
          <p:nvPr/>
        </p:nvSpPr>
        <p:spPr>
          <a:xfrm>
            <a:off x="5349240" y="1661922"/>
            <a:ext cx="3520440" cy="34747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2" name="Google Shape;392;p9"/>
          <p:cNvSpPr/>
          <p:nvPr/>
        </p:nvSpPr>
        <p:spPr>
          <a:xfrm>
            <a:off x="5440680" y="1661922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🧩  Cadena de Pensamiento (CoT)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3" name="Google Shape;393;p9"/>
          <p:cNvSpPr/>
          <p:nvPr/>
        </p:nvSpPr>
        <p:spPr>
          <a:xfrm>
            <a:off x="5440680" y="2064258"/>
            <a:ext cx="3337560" cy="1316736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4" name="Google Shape;394;p9"/>
          <p:cNvSpPr/>
          <p:nvPr/>
        </p:nvSpPr>
        <p:spPr>
          <a:xfrm>
            <a:off x="5513832" y="2036822"/>
            <a:ext cx="31914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¿Aplica reasoning step-by-step?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i="1" lang="en-US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Sí  □ No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dk1"/>
                </a:solidFill>
              </a:rPr>
              <a:t>Estrategia utilizada: </a:t>
            </a:r>
            <a:r>
              <a:rPr lang="en-US" sz="700">
                <a:solidFill>
                  <a:schemeClr val="dk1"/>
                </a:solidFill>
              </a:rPr>
              <a:t> ReAct</a:t>
            </a:r>
            <a:endParaRPr b="1"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00"/>
              <a:buAutoNum type="arabicPeriod"/>
            </a:pPr>
            <a:r>
              <a:rPr lang="en-US" sz="700">
                <a:solidFill>
                  <a:schemeClr val="dk1"/>
                </a:solidFill>
              </a:rPr>
              <a:t>Interpretar mensaje.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AutoNum type="arabicPeriod"/>
            </a:pPr>
            <a:r>
              <a:rPr lang="en-US" sz="700">
                <a:solidFill>
                  <a:schemeClr val="dk1"/>
                </a:solidFill>
              </a:rPr>
              <a:t>Identificar intención.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AutoNum type="arabicPeriod"/>
            </a:pPr>
            <a:r>
              <a:rPr lang="en-US" sz="700">
                <a:solidFill>
                  <a:schemeClr val="dk1"/>
                </a:solidFill>
              </a:rPr>
              <a:t>Consultar inventario.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AutoNum type="arabicPeriod"/>
            </a:pPr>
            <a:r>
              <a:rPr lang="en-US" sz="700">
                <a:solidFill>
                  <a:schemeClr val="dk1"/>
                </a:solidFill>
              </a:rPr>
              <a:t>Validar disponibilidad.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AutoNum type="arabicPeriod"/>
            </a:pPr>
            <a:r>
              <a:rPr lang="en-US" sz="700">
                <a:solidFill>
                  <a:schemeClr val="dk1"/>
                </a:solidFill>
              </a:rPr>
              <a:t>Generar respuesta.</a:t>
            </a:r>
            <a:endParaRPr sz="700">
              <a:solidFill>
                <a:schemeClr val="dk1"/>
              </a:solidFill>
            </a:endParaRPr>
          </a:p>
          <a:p>
            <a:pPr indent="-273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AutoNum type="arabicPeriod"/>
            </a:pPr>
            <a:r>
              <a:rPr lang="en-US" sz="700">
                <a:solidFill>
                  <a:schemeClr val="dk1"/>
                </a:solidFill>
              </a:rPr>
              <a:t>Registrar operación.</a:t>
            </a:r>
            <a:endParaRPr sz="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9"/>
          <p:cNvSpPr/>
          <p:nvPr/>
        </p:nvSpPr>
        <p:spPr>
          <a:xfrm>
            <a:off x="5349240" y="3646170"/>
            <a:ext cx="3520440" cy="20208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5349240" y="3646170"/>
            <a:ext cx="3520440" cy="347472"/>
          </a:xfrm>
          <a:prstGeom prst="rect">
            <a:avLst/>
          </a:prstGeom>
          <a:solidFill>
            <a:srgbClr val="1A6B5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5440680" y="3646170"/>
            <a:ext cx="3337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📚  Persistencia y RAG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8" name="Google Shape;398;p9"/>
          <p:cNvSpPr/>
          <p:nvPr/>
        </p:nvSpPr>
        <p:spPr>
          <a:xfrm>
            <a:off x="5440680" y="4048506"/>
            <a:ext cx="3337560" cy="1536192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9" name="Google Shape;399;p9"/>
          <p:cNvSpPr/>
          <p:nvPr/>
        </p:nvSpPr>
        <p:spPr>
          <a:xfrm>
            <a:off x="5513825" y="4103375"/>
            <a:ext cx="32643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¿Aplica RAG o memoria persistente?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Sí  □ No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store usado: X FAISS □ Chroma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□ Pinecone □ Qdrant □ Otro: ___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documentos indexados:</a:t>
            </a:r>
            <a:endParaRPr i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logístico,Procedimientos de inventario, Políticas de despacho, Información de productos</a:t>
            </a:r>
            <a:endParaRPr i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 de retrieval: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semántica mediante embeddings y recuperación de documentos relevantes antes de generar la respuesta. </a:t>
            </a:r>
            <a:endParaRPr sz="9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0"/>
          <p:cNvSpPr/>
          <p:nvPr/>
        </p:nvSpPr>
        <p:spPr>
          <a:xfrm>
            <a:off x="91440" y="1017270"/>
            <a:ext cx="8961120" cy="52578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365760" y="1017270"/>
            <a:ext cx="8423453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 |  LangChain — Video de Funcionamiento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0" y="6415597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182880" y="6415597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Maestría en Inteligencia Artificial — UNAL Sede Manizales   |   NIVEL 2 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7772405" y="1694697"/>
            <a:ext cx="1280100" cy="25590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7772393" y="1694697"/>
            <a:ext cx="128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2  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1371600" y="5109210"/>
            <a:ext cx="6400800" cy="47548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1444752" y="5164074"/>
            <a:ext cx="62544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🔗  URL del video LangChain: </a:t>
            </a:r>
            <a:r>
              <a:rPr i="1" lang="en-US" sz="11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https://drive.google.com/file/d/1ZZIPZJd3NkhYLK3xJ-Bd45hz9z1DXP1k/view?usp=drive_link</a:t>
            </a:r>
            <a:r>
              <a:rPr i="1" lang="en-US" sz="11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3" name="Google Shape;413;p10" title="Captura de pantalla 2026-06-05 1238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1600" y="1694700"/>
            <a:ext cx="6400799" cy="3414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0"/>
          <p:cNvSpPr/>
          <p:nvPr/>
        </p:nvSpPr>
        <p:spPr>
          <a:xfrm>
            <a:off x="1377088" y="1756005"/>
            <a:ext cx="6400800" cy="32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▶</a:t>
            </a:r>
            <a:endParaRPr sz="7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"/>
          <p:cNvSpPr/>
          <p:nvPr/>
        </p:nvSpPr>
        <p:spPr>
          <a:xfrm>
            <a:off x="182880" y="962406"/>
            <a:ext cx="8869680" cy="52578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457200" y="962406"/>
            <a:ext cx="8337499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  |  Técnica Racional / Inteligente — Justificación y Diseño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0" y="6344713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182880" y="6344713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UNAL Sede Manizales   |   NIVEL 3 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228595" y="2007590"/>
            <a:ext cx="8686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Estas son las siguientes </a:t>
            </a:r>
            <a:r>
              <a:rPr b="1" lang="en-US" sz="1500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Técnicas</a:t>
            </a:r>
            <a:r>
              <a:rPr b="1" lang="en-US" sz="1500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 de Racionalidad escogidas: </a:t>
            </a:r>
            <a:endParaRPr sz="15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236925" y="2802950"/>
            <a:ext cx="4160400" cy="354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328283" y="2350368"/>
            <a:ext cx="4160400" cy="3474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328272" y="2377818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🌫️  Lógica Difusa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328275" y="2926000"/>
            <a:ext cx="3977700" cy="3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Variables lingüísticas definidas: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stock: bajo, medio, alto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cantidad: baja, media, alta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valor_total: bajo, medio, alto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prioridad: baja, media, alta</a:t>
            </a:r>
            <a:endParaRPr i="1" sz="9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Funciones de membresía: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stock: trapezoidales para bajo y alto, triangular para medio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cantidad: trapezoidales para baja/alta, triangular para media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valor_total: trapezoidales para bajo/alto, triangular para medio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prioridad: tres funciones triangulares (baja, media, alta)</a:t>
            </a:r>
            <a:endParaRPr i="1" sz="9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Reglas IF-THEN: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R1: SI stock es alto Y cantidad es baja ENTONCES prioridad es alta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R2: SI stock es medio Y valor_total es alto ENTONCES prioridad es alta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R3: SI stock es bajo Y cantidad es alta ENTONCES prioridad es baja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R4: SI stock es bajo Y valor_total es alto ENTONCES prioridad es media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R5: SI cantidad es media Y valor_total es medio ENTONCES prioridad es media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R6: SI stock es alto Y valor_total es alto ENTONCES prioridad es alta</a:t>
            </a:r>
            <a:b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1" sz="9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Desfusificación: [</a:t>
            </a: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desfusificación por centroid (centro de gravedad) implementado por skfuzzy.control para obtener un score numérico de 0 a 100.</a:t>
            </a:r>
            <a:r>
              <a:rPr i="1" lang="en-US" sz="9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4572000" y="2389824"/>
            <a:ext cx="4160400" cy="3877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4571998" y="2389818"/>
            <a:ext cx="4160400" cy="3474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4663438" y="2389818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🧩  Sistema Experto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4572000" y="2826950"/>
            <a:ext cx="4113900" cy="34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8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i="1" lang="en-US" sz="15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Base de conocimiento:</a:t>
            </a:r>
            <a:endParaRPr sz="15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N.° de reglas: 7</a:t>
            </a:r>
            <a:endParaRPr sz="15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Hechos iniciales:</a:t>
            </a:r>
            <a:r>
              <a:rPr i="1" lang="en-US" sz="15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Stock disponible-Cantidad solicitada-Prioridad del pedido-Tipo de producto</a:t>
            </a:r>
            <a:endParaRPr i="1" sz="15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Motor de inferencia:</a:t>
            </a:r>
            <a:endParaRPr sz="15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  X Hacia adelante  □ Hacia atrás</a:t>
            </a:r>
            <a:endParaRPr sz="15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Herramienta: □ pyknow X experta</a:t>
            </a:r>
            <a:endParaRPr sz="15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• Ejemplo de regla: </a:t>
            </a:r>
            <a:r>
              <a:rPr i="1" lang="en-US" sz="13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SI stock &gt;= cantidad_solicitada</a:t>
            </a:r>
            <a:endParaRPr i="1" sz="13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3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ENTONCES pedido_aprobado</a:t>
            </a:r>
            <a:endParaRPr i="1" sz="13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3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SI stock &lt; cantidad_solicitada</a:t>
            </a:r>
            <a:endParaRPr i="1" sz="13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3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ENTONCES pedido_rechazado</a:t>
            </a:r>
            <a:endParaRPr i="1" sz="13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3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SI cantidad &gt; 50</a:t>
            </a:r>
            <a:endParaRPr i="1" sz="13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ENTONCES prioridad_alta </a:t>
            </a:r>
            <a:endParaRPr i="1" sz="135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7498080" y="1661922"/>
            <a:ext cx="1280100" cy="255900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7498118" y="1661985"/>
            <a:ext cx="128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3  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"/>
          <p:cNvSpPr/>
          <p:nvPr/>
        </p:nvSpPr>
        <p:spPr>
          <a:xfrm>
            <a:off x="91440" y="992372"/>
            <a:ext cx="8869680" cy="550678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365760" y="992372"/>
            <a:ext cx="8337499" cy="5506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 |  Resultados de la Técnica Racional — Métricas y Análisis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NIVEL 3  = 5.0</a:t>
            </a:r>
            <a:endParaRPr sz="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274320" y="1680210"/>
            <a:ext cx="4160400" cy="400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274320" y="1680210"/>
            <a:ext cx="4160520" cy="34747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365760" y="1680210"/>
            <a:ext cx="3977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 Métricas de Evaluación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411480" y="2119122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▸  Rendimiento del modelo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411500" y="2375138"/>
            <a:ext cx="38862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prueba evaluados: 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Distribución de prioridades: 3 pedidos BAJA, 5 pedidos MEDIA, 0 pedidos ALTA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Puntaje difuso promedio: ~39 puntos sobre 100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Rango observado de prioridad: de 13 a 50 puntos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411480" y="3362706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▸  Calidad del sistema integrado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411425" y="3630731"/>
            <a:ext cx="38862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cálculo de prioridad se ejecuta en menos de 5 ms por pedido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introduce latencia perceptible sobre la respuesta original del agente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lógica es determinista y repetible para el mismo stock y la misma cantidad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411480" y="437769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50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▸  Valor agregado respecto a Nivel 2</a:t>
            </a:r>
            <a:endParaRPr sz="9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411475" y="4862332"/>
            <a:ext cx="38862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Ahora cada pedido tiene una criticidad cuantificada (BAJA / MEDIA / ALTA) que no existía en Nivel 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agente puede priorizar automáticamente pedidos de mayor impacto económico o con mejor disponibilidad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decisión ya no depende solo del LLM, sino de un módulo formal verificable y ajustable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4663440" y="1680210"/>
            <a:ext cx="411480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4663440" y="1680210"/>
            <a:ext cx="4114800" cy="34747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4754880" y="168021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Gráfico de Resultados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4754880" y="2082546"/>
            <a:ext cx="3931920" cy="1554480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4663440" y="3893058"/>
            <a:ext cx="4114800" cy="17922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4663440" y="3893058"/>
            <a:ext cx="4114800" cy="347472"/>
          </a:xfrm>
          <a:prstGeom prst="rect">
            <a:avLst/>
          </a:prstGeom>
          <a:solidFill>
            <a:srgbClr val="5B2D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4754880" y="3893058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💬  Análisis Crítico e Integración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4754880" y="4295394"/>
            <a:ext cx="3931920" cy="1298448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4828032" y="4350258"/>
            <a:ext cx="3785616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combinación de Sistema Experto y Lógica Difusa se integró al flujo LangChain para validar reglas de negocio sobre inventario, aprobación y priorización de pedidos, complementando el razonamiento del modelo de lenguaje con reglas explícitas y verificables. Como limitación, tanto la base de reglas como las funciones de membresía deben actualizarse cuando cambian las políticas logísticas o los procesos de negocio.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0" y="6344713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182880" y="6344713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UNAL Sede Manizales   |   NIVEL 3 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64" name="Google Shape;4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4875" y="2129472"/>
            <a:ext cx="3931925" cy="15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3"/>
          <p:cNvSpPr/>
          <p:nvPr/>
        </p:nvSpPr>
        <p:spPr>
          <a:xfrm>
            <a:off x="137160" y="1032288"/>
            <a:ext cx="8869680" cy="508148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411480" y="1032288"/>
            <a:ext cx="8337499" cy="508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 |  Conclusiones y Trabajo Futuro</a:t>
            </a:r>
            <a:endParaRPr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UNAL Sede Manizales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3" name="Google Shape;473;p13"/>
          <p:cNvSpPr/>
          <p:nvPr/>
        </p:nvSpPr>
        <p:spPr>
          <a:xfrm>
            <a:off x="274320" y="1680210"/>
            <a:ext cx="4114800" cy="3977640"/>
          </a:xfrm>
          <a:prstGeom prst="rect">
            <a:avLst/>
          </a:prstGeom>
          <a:solidFill>
            <a:srgbClr val="001A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4" name="Google Shape;474;p13"/>
          <p:cNvSpPr/>
          <p:nvPr/>
        </p:nvSpPr>
        <p:spPr>
          <a:xfrm>
            <a:off x="274320" y="1680210"/>
            <a:ext cx="4114800" cy="3657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365760" y="168021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✅  Conclusiones del Proyecto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365760" y="2100834"/>
            <a:ext cx="3931920" cy="3438144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438912" y="2155698"/>
            <a:ext cx="3785616" cy="332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Conclusión sobre el Nivel 1 (N8n):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N8n permitió automatizar exitosamente el flujo de gestión logística, reduciendo tareas manuales y mejorando la eficiencia operativa. 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Conclusión sobre el Nivel 2 (LangChain):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LangChain permitió construir un agente inteligente capaz de interpretar lenguaje natural y ejecutar acciones de forma autónoma. 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Conclusión sobre la Técnica Racional: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Experto fortaleció la toma de decisiones mediante reglas de negocio explícitas para la validación de inventario y pedidos. 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Aprendizajes del equipo: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adquirieron conocimientos en automatización inteligente, integración de modelos de lenguaje, agentes conversacionales y razonamiento computacional. </a:t>
            </a:r>
            <a:endParaRPr sz="10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4754880" y="1680210"/>
            <a:ext cx="4114800" cy="3977640"/>
          </a:xfrm>
          <a:prstGeom prst="rect">
            <a:avLst/>
          </a:prstGeom>
          <a:solidFill>
            <a:srgbClr val="001A5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754880" y="1680210"/>
            <a:ext cx="4114800" cy="365760"/>
          </a:xfrm>
          <a:prstGeom prst="rect">
            <a:avLst/>
          </a:prstGeom>
          <a:solidFill>
            <a:srgbClr val="27A9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4846320" y="168021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🚀  Trabajo Futuro y Mejoras</a:t>
            </a:r>
            <a:endParaRPr sz="11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846320" y="2100834"/>
            <a:ext cx="3931920" cy="3438144"/>
          </a:xfrm>
          <a:prstGeom prst="rect">
            <a:avLst/>
          </a:prstGeom>
          <a:solidFill>
            <a:srgbClr val="FAFAFA"/>
          </a:solidFill>
          <a:ln cap="flat" cmpd="sng" w="15225">
            <a:solidFill>
              <a:srgbClr val="C8A41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919472" y="2155698"/>
            <a:ext cx="3785616" cy="332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Machine Learning para predicción de demanda.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Conectar bases de datos empresariales reales.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paneles de monitoreo en tiempo real.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Desplegar el sistema en ambientes productivos.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0" y="6344713"/>
            <a:ext cx="9144000" cy="251460"/>
          </a:xfrm>
          <a:prstGeom prst="rect">
            <a:avLst/>
          </a:prstGeom>
          <a:solidFill>
            <a:srgbClr val="C8A41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182880" y="6344713"/>
            <a:ext cx="8778240" cy="25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003087"/>
                </a:solidFill>
                <a:latin typeface="Calibri"/>
                <a:ea typeface="Calibri"/>
                <a:cs typeface="Calibri"/>
                <a:sym typeface="Calibri"/>
              </a:rPr>
              <a:t>Especialización en Inteligencia Artificial — UNAL Sede Manizales   |   NIVEL 3 </a:t>
            </a:r>
            <a:endParaRPr sz="85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85811"/>
            <a:ext cx="3810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4"/>
          <p:cNvSpPr txBox="1"/>
          <p:nvPr>
            <p:ph type="title"/>
          </p:nvPr>
        </p:nvSpPr>
        <p:spPr>
          <a:xfrm>
            <a:off x="3809999" y="3012750"/>
            <a:ext cx="39732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156499"/>
              </a:buClr>
              <a:buSzPts val="4800"/>
              <a:buFont typeface="Century Gothic"/>
              <a:buNone/>
            </a:pPr>
            <a:r>
              <a:rPr b="1" lang="en-US" sz="2400">
                <a:solidFill>
                  <a:srgbClr val="156499"/>
                </a:solidFill>
              </a:rPr>
              <a:t>Tutorial: Sistema Inteligente de Automatización Logística para Gestión de Pedidos e Inventario mediante N8n, LangChain y Modelos de Lenguaje </a:t>
            </a:r>
            <a:endParaRPr sz="2400"/>
          </a:p>
        </p:txBody>
      </p:sp>
      <p:sp>
        <p:nvSpPr>
          <p:cNvPr id="491" name="Google Shape;491;p14"/>
          <p:cNvSpPr txBox="1"/>
          <p:nvPr/>
        </p:nvSpPr>
        <p:spPr>
          <a:xfrm>
            <a:off x="6685280" y="603504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2" name="Google Shape;492;p14"/>
          <p:cNvSpPr txBox="1"/>
          <p:nvPr>
            <p:ph idx="4294967295" type="subTitle"/>
          </p:nvPr>
        </p:nvSpPr>
        <p:spPr>
          <a:xfrm>
            <a:off x="3810000" y="4697500"/>
            <a:ext cx="4275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r>
              <a:rPr lang="en-US" sz="1400">
                <a:solidFill>
                  <a:srgbClr val="000000"/>
                </a:solidFill>
              </a:rPr>
              <a:t>Vanessa Restrepo Obando, </a:t>
            </a:r>
            <a:r>
              <a:rPr lang="en-US" sz="1400" u="sng">
                <a:solidFill>
                  <a:schemeClr val="hlink"/>
                </a:solidFill>
                <a:hlinkClick r:id="rId4"/>
              </a:rPr>
              <a:t>vrestrepoo@unal.edu.co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r>
              <a:rPr lang="en-US" sz="1400">
                <a:solidFill>
                  <a:srgbClr val="000000"/>
                </a:solidFill>
              </a:rPr>
              <a:t>Daniel Felipe Mejia Rios, </a:t>
            </a:r>
            <a:r>
              <a:rPr lang="en-US" sz="1400" u="sng">
                <a:solidFill>
                  <a:schemeClr val="hlink"/>
                </a:solidFill>
                <a:hlinkClick r:id="rId5"/>
              </a:rPr>
              <a:t>dmejiari@unal.edu.co</a:t>
            </a:r>
            <a:r>
              <a:rPr lang="en-US" sz="1400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493" name="Google Shape;493;p14"/>
          <p:cNvSpPr txBox="1"/>
          <p:nvPr>
            <p:ph idx="4294967295" type="subTitle"/>
          </p:nvPr>
        </p:nvSpPr>
        <p:spPr>
          <a:xfrm>
            <a:off x="3903800" y="5582600"/>
            <a:ext cx="4275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Noto Sans Symbols"/>
              <a:buNone/>
            </a:pPr>
            <a:r>
              <a:rPr lang="en-US"/>
              <a:t>Link Drive: </a:t>
            </a:r>
            <a:r>
              <a:rPr lang="en-US" u="sng">
                <a:solidFill>
                  <a:schemeClr val="hlink"/>
                </a:solidFill>
                <a:hlinkClick r:id="rId6"/>
              </a:rPr>
              <a:t>https://drive.google.com/drive/folders/1mdHG2-jVRCmLP5vrzjvtdu5BKdya-acr?usp=drive_link</a:t>
            </a:r>
            <a:r>
              <a:rPr lang="en-US"/>
              <a:t> 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laza">
  <a:themeElements>
    <a:clrScheme name="Artículo">
      <a:dk1>
        <a:srgbClr val="000000"/>
      </a:dk1>
      <a:lt1>
        <a:srgbClr val="FFFFFF"/>
      </a:lt1>
      <a:dk2>
        <a:srgbClr val="212121"/>
      </a:dk2>
      <a:lt2>
        <a:srgbClr val="CDD4D7"/>
      </a:lt2>
      <a:accent1>
        <a:srgbClr val="1D86CD"/>
      </a:accent1>
      <a:accent2>
        <a:srgbClr val="732E9A"/>
      </a:accent2>
      <a:accent3>
        <a:srgbClr val="B50B1B"/>
      </a:accent3>
      <a:accent4>
        <a:srgbClr val="E8950E"/>
      </a:accent4>
      <a:accent5>
        <a:srgbClr val="55992B"/>
      </a:accent5>
      <a:accent6>
        <a:srgbClr val="2C9C89"/>
      </a:accent6>
      <a:hlink>
        <a:srgbClr val="EC4D4D"/>
      </a:hlink>
      <a:folHlink>
        <a:srgbClr val="F8CE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2010-09-20T07:20:35Z</dcterms:created>
  <dc:creator>Jose Angel Bañares Bañares</dc:creator>
</cp:coreProperties>
</file>